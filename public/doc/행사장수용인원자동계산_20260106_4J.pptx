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73" r:id="rId7"/>
    <p:sldId id="277" r:id="rId8"/>
    <p:sldId id="278" r:id="rId9"/>
    <p:sldId id="276" r:id="rId10"/>
    <p:sldId id="262" r:id="rId11"/>
    <p:sldId id="263" r:id="rId12"/>
    <p:sldId id="264" r:id="rId13"/>
    <p:sldId id="274" r:id="rId14"/>
    <p:sldId id="275" r:id="rId15"/>
    <p:sldId id="272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380" y="9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1070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A115B-4488-FDD5-0340-73FD8A9F7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206852-68BA-5AD3-0BDC-B9B3658DCA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4D2102-0B8C-9086-694A-29A00E8ED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DB69C-5BCC-6D6B-2653-1C5FBF2096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669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38CEF-8FB0-C930-6807-CFC1D0A53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8B609F-9D7F-E9C0-4E84-EB4E01E984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722309-84DD-F5B2-06C5-92DB16A6F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DC649-8FE7-CCAB-0165-3E02A21948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864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B83DE-FF20-0D83-B558-E6BD3943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0036F2-D149-D3DC-0BC2-1871579484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692E73-A890-9387-4645-4C8296025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37F91-3924-3541-6B78-FC07FF4475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8552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C1607-8885-5788-7B88-3236BC0A6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900F9F-147C-AC71-D2C9-91A5FB04A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E28859-BA02-CC92-067E-42C43FA4E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79DB8-2A53-E459-6CAD-F8C8E1052D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9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D8D1C-6A49-8C18-7A92-D63721757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B98075-4C11-6B48-88AD-C45CB7D4C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AC533E-BFFB-2313-8A53-EC7C3873A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02649-4A67-F2B7-CCF9-4C8D39D069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0129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9A668-6EFF-E994-12CB-AFB0E453B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C2BDF5-EF54-45D9-3B22-758775AF0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F2A9C5-60E1-BE14-06BE-935FDE5DBD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D9F28-B0A1-59C0-86EA-1C633FA179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7460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8E5E7-EEDF-5640-7257-4AAF20C84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EFD1A-CB3E-284C-C6D2-BC9539CA9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F40981-4DEA-F216-50BD-8DB1478E0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1E4D6-8156-A59F-6DCD-F2092EE1DA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0541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1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2.jpe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9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429500" y="-952805"/>
            <a:ext cx="5715000" cy="5715000"/>
          </a:xfrm>
          <a:prstGeom prst="ellipse">
            <a:avLst/>
          </a:prstGeom>
          <a:noFill/>
          <a:ln w="254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905902" y="476402"/>
            <a:ext cx="3810305" cy="3810305"/>
          </a:xfrm>
          <a:prstGeom prst="ellipse">
            <a:avLst/>
          </a:prstGeom>
          <a:noFill/>
          <a:ln w="254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1904695" y="1143000"/>
            <a:ext cx="7619695" cy="7619695"/>
          </a:xfrm>
          <a:prstGeom prst="ellipse">
            <a:avLst/>
          </a:prstGeom>
          <a:noFill/>
          <a:ln w="5080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biLevel thresh="25000"/>
          </a:blip>
          <a:srcRect t="285" b="285"/>
          <a:stretch/>
        </p:blipFill>
        <p:spPr>
          <a:xfrm>
            <a:off x="542497" y="219337"/>
            <a:ext cx="2552395" cy="117477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1695" y="1747418"/>
            <a:ext cx="914400" cy="758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61695" y="2033626"/>
            <a:ext cx="6648602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행사장 수용인원</a:t>
            </a:r>
            <a:endParaRPr lang="en-US" sz="7200" dirty="0"/>
          </a:p>
        </p:txBody>
      </p:sp>
      <p:sp>
        <p:nvSpPr>
          <p:cNvPr id="10" name="Text 7"/>
          <p:cNvSpPr txBox="1"/>
          <p:nvPr/>
        </p:nvSpPr>
        <p:spPr>
          <a:xfrm>
            <a:off x="761695" y="3176626"/>
            <a:ext cx="3963010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자동계산</a:t>
            </a:r>
            <a:endParaRPr lang="en-US" sz="7200" dirty="0"/>
          </a:p>
        </p:txBody>
      </p:sp>
      <p:sp>
        <p:nvSpPr>
          <p:cNvPr id="11" name="Text 8"/>
          <p:cNvSpPr txBox="1"/>
          <p:nvPr/>
        </p:nvSpPr>
        <p:spPr>
          <a:xfrm>
            <a:off x="761695" y="4604918"/>
            <a:ext cx="128198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팀명 : 4J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761695" y="5362956"/>
            <a:ext cx="10668305" cy="9144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09498" y="5838444"/>
            <a:ext cx="11292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황보정운 실장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433218" y="5838444"/>
            <a:ext cx="9674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신희제 선임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699662" y="5838444"/>
            <a:ext cx="9674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최진욱 선임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965192" y="5838444"/>
            <a:ext cx="9674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강재연 선임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449763" y="5838444"/>
            <a:ext cx="11100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2026. 01. 06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61695" y="5600700"/>
            <a:ext cx="11484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TEAM</a:t>
            </a:r>
            <a:endParaRPr lang="en-US" sz="10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>
            <a:alphaModFix amt="70000"/>
          </a:blip>
          <a:srcRect/>
          <a:stretch/>
        </p:blipFill>
        <p:spPr>
          <a:xfrm>
            <a:off x="761695" y="5876849"/>
            <a:ext cx="171907" cy="171907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2308860" y="5838444"/>
            <a:ext cx="186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3575304" y="5838444"/>
            <a:ext cx="186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4840834" y="5838444"/>
            <a:ext cx="186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11143793" y="5600700"/>
            <a:ext cx="3959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761695" y="504749"/>
            <a:ext cx="116220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209751"/>
            <a:ext cx="17437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Table of Contents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867205"/>
            <a:ext cx="6766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408176" y="2667305"/>
            <a:ext cx="4238244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1408176" y="1962302"/>
            <a:ext cx="32196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우리가 선택한 업무는 무엇인가?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08176" y="2324405"/>
            <a:ext cx="7863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THIS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61695" y="2759659"/>
            <a:ext cx="6766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1408176" y="3560674"/>
            <a:ext cx="4238244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1408176" y="2854757"/>
            <a:ext cx="27340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기존에는 어떻게 일했는가?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408176" y="3216859"/>
            <a:ext cx="1739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 &amp; PAIN POINTS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61695" y="3653028"/>
            <a:ext cx="6766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1408176" y="4453128"/>
            <a:ext cx="4238244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1408176" y="3748126"/>
            <a:ext cx="33055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AI를 어디에, 어떻게 사용했는가?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08176" y="4110228"/>
            <a:ext cx="6528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ROLE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61695" y="4545482"/>
            <a:ext cx="6766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1408176" y="5346497"/>
            <a:ext cx="4238244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1408176" y="4641494"/>
            <a:ext cx="24670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우리가 만든 결과물 소개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408176" y="5002682"/>
            <a:ext cx="1443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 UI &amp; DEMO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61695" y="5438851"/>
            <a:ext cx="6766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1408176" y="6238951"/>
            <a:ext cx="4238244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1408176" y="5533949"/>
            <a:ext cx="2686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업무는 이렇게 달라졌다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408176" y="5896051"/>
            <a:ext cx="15389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 &amp; EFFICIENCY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553505" y="1867205"/>
            <a:ext cx="6766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2700" dirty="0"/>
          </a:p>
        </p:txBody>
      </p:sp>
      <p:sp>
        <p:nvSpPr>
          <p:cNvPr id="27" name="Shape 25"/>
          <p:cNvSpPr/>
          <p:nvPr/>
        </p:nvSpPr>
        <p:spPr>
          <a:xfrm>
            <a:off x="7199986" y="2667305"/>
            <a:ext cx="4238244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7199986" y="1962302"/>
            <a:ext cx="31345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업무에 계속 쓸 수 있을까?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199986" y="2324405"/>
            <a:ext cx="12335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SUSTAINABILITY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553505" y="2838298"/>
            <a:ext cx="6766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2700" dirty="0"/>
          </a:p>
        </p:txBody>
      </p:sp>
      <p:sp>
        <p:nvSpPr>
          <p:cNvPr id="31" name="Shape 29"/>
          <p:cNvSpPr/>
          <p:nvPr/>
        </p:nvSpPr>
        <p:spPr>
          <a:xfrm>
            <a:off x="7199986" y="3639312"/>
            <a:ext cx="4238244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7199986" y="2933395"/>
            <a:ext cx="25246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팀은 어떻게 협업했는가?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7199986" y="3295498"/>
            <a:ext cx="1271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COLLABORATION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553505" y="3810305"/>
            <a:ext cx="6766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2700" dirty="0"/>
          </a:p>
        </p:txBody>
      </p:sp>
      <p:sp>
        <p:nvSpPr>
          <p:cNvPr id="35" name="Shape 33"/>
          <p:cNvSpPr/>
          <p:nvPr/>
        </p:nvSpPr>
        <p:spPr>
          <a:xfrm>
            <a:off x="7199986" y="4610405"/>
            <a:ext cx="4238244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7199986" y="3905402"/>
            <a:ext cx="2686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우리가 시도한 점의 차별성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7199986" y="4267505"/>
            <a:ext cx="9765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INNOVATION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553505" y="4781398"/>
            <a:ext cx="6766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2700" dirty="0"/>
          </a:p>
        </p:txBody>
      </p:sp>
      <p:sp>
        <p:nvSpPr>
          <p:cNvPr id="39" name="Shape 37"/>
          <p:cNvSpPr/>
          <p:nvPr/>
        </p:nvSpPr>
        <p:spPr>
          <a:xfrm>
            <a:off x="7199986" y="5582412"/>
            <a:ext cx="4238244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7199986" y="4876495"/>
            <a:ext cx="24670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성과 및 마무리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7199986" y="5238598"/>
            <a:ext cx="14246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IMPACT &amp; CLOSING</a:t>
            </a:r>
            <a:endParaRPr lang="en-US" sz="1000" dirty="0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rcRect t="142" b="141"/>
          <a:stretch/>
        </p:blipFill>
        <p:spPr>
          <a:xfrm>
            <a:off x="10652760" y="304495"/>
            <a:ext cx="1238098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305763" y="1143000"/>
            <a:ext cx="10429646" cy="3840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466344"/>
            <a:ext cx="11338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66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4500" dirty="0"/>
          </a:p>
        </p:txBody>
      </p:sp>
      <p:sp>
        <p:nvSpPr>
          <p:cNvPr id="8" name="Text 6"/>
          <p:cNvSpPr txBox="1"/>
          <p:nvPr/>
        </p:nvSpPr>
        <p:spPr>
          <a:xfrm>
            <a:off x="1305763" y="381305"/>
            <a:ext cx="48298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우리가 선택한 업무는 무엇인가?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1305763" y="838505"/>
            <a:ext cx="14621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THIS PROJECT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23306" y="1638605"/>
            <a:ext cx="3047695" cy="1410005"/>
          </a:xfrm>
          <a:prstGeom prst="roundRect">
            <a:avLst>
              <a:gd name="adj" fmla="val 7011"/>
            </a:avLst>
          </a:prstGeom>
          <a:solidFill>
            <a:srgbClr val="F9FAFB"/>
          </a:solidFill>
          <a:ln/>
          <a:effectLst>
            <a:outerShdw blurRad="190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423306" y="1638605"/>
            <a:ext cx="38405" cy="141000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5784494" y="1981505"/>
            <a:ext cx="190195" cy="15270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693201" y="1638605"/>
            <a:ext cx="3047695" cy="1410005"/>
          </a:xfrm>
          <a:prstGeom prst="roundRect">
            <a:avLst>
              <a:gd name="adj" fmla="val 7011"/>
            </a:avLst>
          </a:prstGeom>
          <a:solidFill>
            <a:srgbClr val="F9FAFB"/>
          </a:solidFill>
          <a:ln/>
          <a:effectLst>
            <a:outerShdw blurRad="190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8693201" y="1638605"/>
            <a:ext cx="38405" cy="1410005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8960206" y="18672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074506" y="1981505"/>
            <a:ext cx="152705" cy="152705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23306" y="3353105"/>
            <a:ext cx="6314846" cy="3047695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90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36946" y="3705149"/>
            <a:ext cx="237744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089904" y="3666744"/>
            <a:ext cx="2171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AI로 바꾸고 싶었는가?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185002" y="1933956"/>
            <a:ext cx="9674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담당자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5727802" y="2361895"/>
            <a:ext cx="819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행사기획팀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5727802" y="2590495"/>
            <a:ext cx="819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시설관리팀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9454896" y="1933956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빈도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8960206" y="2371954"/>
            <a:ext cx="2619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행사 기획 시 매번 필수적으로 수행</a:t>
            </a:r>
            <a:endParaRPr lang="en-US" sz="12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36946" y="4214470"/>
            <a:ext cx="190195" cy="19019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079846" y="4172407"/>
            <a:ext cx="18534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수동 계산의 오류 가능성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6079846" y="4466844"/>
            <a:ext cx="2852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사람이 계산할 때 발생할 수 있는 실수와 편차 제거</a:t>
            </a:r>
            <a:endParaRPr lang="en-US" sz="10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36946" y="4900270"/>
            <a:ext cx="190195" cy="19019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079846" y="4858207"/>
            <a:ext cx="18534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기준 준수의 중요성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6079846" y="5152644"/>
            <a:ext cx="27861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법적 기준과 안전 가이드라인의 정확한 적용 필요</a:t>
            </a:r>
            <a:endParaRPr lang="en-US" sz="10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36946" y="5586070"/>
            <a:ext cx="190195" cy="19019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079846" y="5544007"/>
            <a:ext cx="18050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반복적 업무의 비효율성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6079846" y="5838444"/>
            <a:ext cx="2701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매번 도면을 보며 반복 계산하는 시간 낭비 해결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457200" y="1638605"/>
            <a:ext cx="4515307" cy="4762195"/>
          </a:xfrm>
          <a:prstGeom prst="roundRect">
            <a:avLst>
              <a:gd name="adj" fmla="val 1025"/>
            </a:avLst>
          </a:prstGeom>
          <a:solidFill>
            <a:srgbClr val="111827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7">
            <a:alphaModFix amt="80000"/>
          </a:blip>
          <a:srcRect l="-573848" r="-573848"/>
          <a:stretch/>
        </p:blipFill>
        <p:spPr>
          <a:xfrm>
            <a:off x="838505" y="2604211"/>
            <a:ext cx="3743554" cy="3429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838505" y="3193999"/>
            <a:ext cx="3777386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"행사장 수용인원을 안전 기준에 맞게 산정할 수 있을까?"</a:t>
            </a:r>
            <a:endParaRPr lang="en-US" sz="2200" dirty="0"/>
          </a:p>
        </p:txBody>
      </p:sp>
      <p:sp>
        <p:nvSpPr>
          <p:cNvPr id="39" name="Shape 30"/>
          <p:cNvSpPr/>
          <p:nvPr/>
        </p:nvSpPr>
        <p:spPr>
          <a:xfrm>
            <a:off x="838505" y="4332427"/>
            <a:ext cx="457200" cy="38405"/>
          </a:xfrm>
          <a:prstGeom prst="roundRect">
            <a:avLst>
              <a:gd name="adj" fmla="val 2380940"/>
            </a:avLst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1"/>
          <p:cNvSpPr txBox="1"/>
          <p:nvPr/>
        </p:nvSpPr>
        <p:spPr>
          <a:xfrm>
            <a:off x="838505" y="4608576"/>
            <a:ext cx="19010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숫자 계산을 넘어,</a:t>
            </a:r>
            <a:endParaRPr lang="en-US" sz="1300" dirty="0"/>
          </a:p>
        </p:txBody>
      </p:sp>
      <p:sp>
        <p:nvSpPr>
          <p:cNvPr id="41" name="Text 32"/>
          <p:cNvSpPr txBox="1"/>
          <p:nvPr/>
        </p:nvSpPr>
        <p:spPr>
          <a:xfrm>
            <a:off x="838505" y="4887468"/>
            <a:ext cx="21671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공간의 안전을 담보하는</a:t>
            </a:r>
            <a:endParaRPr lang="en-US" sz="1300" dirty="0"/>
          </a:p>
        </p:txBody>
      </p:sp>
      <p:sp>
        <p:nvSpPr>
          <p:cNvPr id="42" name="Text 33"/>
          <p:cNvSpPr txBox="1"/>
          <p:nvPr/>
        </p:nvSpPr>
        <p:spPr>
          <a:xfrm>
            <a:off x="838505" y="5166360"/>
            <a:ext cx="21671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질문에서 시작했습니다.</a:t>
            </a:r>
            <a:endParaRPr lang="en-US" sz="1300" dirty="0"/>
          </a:p>
        </p:txBody>
      </p:sp>
      <p:pic>
        <p:nvPicPr>
          <p:cNvPr id="44" name="Image 0" descr="preencoded.png">
            <a:extLst>
              <a:ext uri="{FF2B5EF4-FFF2-40B4-BE49-F238E27FC236}">
                <a16:creationId xmlns:a16="http://schemas.microsoft.com/office/drawing/2014/main" id="{3F047477-7575-3706-32A8-7ABC477BFEB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42" b="141"/>
          <a:stretch/>
        </p:blipFill>
        <p:spPr>
          <a:xfrm>
            <a:off x="10652760" y="304495"/>
            <a:ext cx="1238098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0056571" y="5464483"/>
            <a:ext cx="1914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EVENT CAPACITY AI SYSTEM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305763" y="1143000"/>
            <a:ext cx="10429646" cy="3840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466344"/>
            <a:ext cx="11338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66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4500" dirty="0"/>
          </a:p>
        </p:txBody>
      </p:sp>
      <p:sp>
        <p:nvSpPr>
          <p:cNvPr id="8" name="Text 6"/>
          <p:cNvSpPr txBox="1"/>
          <p:nvPr/>
        </p:nvSpPr>
        <p:spPr>
          <a:xfrm>
            <a:off x="1305763" y="381305"/>
            <a:ext cx="41056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기존에는 어떻게 일했는가?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1305763" y="838505"/>
            <a:ext cx="19860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 TRANSFORMATION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73014" y="1269928"/>
            <a:ext cx="6362395" cy="1962302"/>
          </a:xfrm>
          <a:prstGeom prst="roundRect">
            <a:avLst>
              <a:gd name="adj" fmla="val 3619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  <a:effectLst>
            <a:outerShdw blurRad="190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10758" y="1556135"/>
            <a:ext cx="171907" cy="171907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858560" y="1508587"/>
            <a:ext cx="216712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업무 흐름 (Workflow)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373014" y="3460831"/>
            <a:ext cx="6362395" cy="2939969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/>
          <a:effectLst>
            <a:outerShdw blurRad="190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373014" y="3460831"/>
            <a:ext cx="64923" cy="2939969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914" y="3630908"/>
            <a:ext cx="190195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020409" y="3593417"/>
            <a:ext cx="23344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문제점 (Pain Points)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830214" y="4021219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l="-1064" r="-1064"/>
          <a:stretch/>
        </p:blipFill>
        <p:spPr>
          <a:xfrm>
            <a:off x="5949086" y="4163865"/>
            <a:ext cx="219456" cy="171907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830214" y="477611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72860" y="4919671"/>
            <a:ext cx="171907" cy="171907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830214" y="554037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 l="-1064" r="-1064"/>
          <a:stretch/>
        </p:blipFill>
        <p:spPr>
          <a:xfrm>
            <a:off x="5949086" y="5683939"/>
            <a:ext cx="219456" cy="17190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440119" y="4021219"/>
            <a:ext cx="18534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감각 의존적 혼잡도 판단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6440119" y="4297368"/>
            <a:ext cx="27386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데이터가 아닌 담당자의 '감'으로 위험 여부 결정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440119" y="4776110"/>
            <a:ext cx="17483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 실수 및 편차 발생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6440119" y="5053173"/>
            <a:ext cx="23289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도면 면적 계산 시 휴먼 에러 빈번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6440119" y="5540378"/>
            <a:ext cx="22146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기준 적용의 일관성 부족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6440119" y="5816527"/>
            <a:ext cx="27861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담당자마다 다른 기준 적용으로 인한 안전성 우려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5610758" y="2270282"/>
            <a:ext cx="5886907" cy="1920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3"/>
          <p:cNvSpPr/>
          <p:nvPr/>
        </p:nvSpPr>
        <p:spPr>
          <a:xfrm>
            <a:off x="6078931" y="1965787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rcRect l="-1282" r="-1282"/>
          <a:stretch/>
        </p:blipFill>
        <p:spPr>
          <a:xfrm>
            <a:off x="6236207" y="2136779"/>
            <a:ext cx="219456" cy="190195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6152997" y="2604038"/>
            <a:ext cx="4764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900" dirty="0"/>
          </a:p>
        </p:txBody>
      </p:sp>
      <p:sp>
        <p:nvSpPr>
          <p:cNvPr id="43" name="Text 35"/>
          <p:cNvSpPr txBox="1"/>
          <p:nvPr/>
        </p:nvSpPr>
        <p:spPr>
          <a:xfrm>
            <a:off x="6081674" y="2803377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도면 확인</a:t>
            </a:r>
            <a:endParaRPr lang="en-US" sz="1000" dirty="0"/>
          </a:p>
        </p:txBody>
      </p:sp>
      <p:sp>
        <p:nvSpPr>
          <p:cNvPr id="44" name="Shape 36"/>
          <p:cNvSpPr/>
          <p:nvPr/>
        </p:nvSpPr>
        <p:spPr>
          <a:xfrm>
            <a:off x="7549286" y="1965787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744967" y="2136779"/>
            <a:ext cx="142646" cy="190195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7623352" y="2604038"/>
            <a:ext cx="4764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900" dirty="0"/>
          </a:p>
        </p:txBody>
      </p:sp>
      <p:sp>
        <p:nvSpPr>
          <p:cNvPr id="47" name="Text 38"/>
          <p:cNvSpPr txBox="1"/>
          <p:nvPr/>
        </p:nvSpPr>
        <p:spPr>
          <a:xfrm>
            <a:off x="7410297" y="2803377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수동 면적 계산</a:t>
            </a:r>
            <a:endParaRPr lang="en-US" sz="1000" dirty="0"/>
          </a:p>
        </p:txBody>
      </p:sp>
      <p:sp>
        <p:nvSpPr>
          <p:cNvPr id="48" name="Shape 39"/>
          <p:cNvSpPr/>
          <p:nvPr/>
        </p:nvSpPr>
        <p:spPr>
          <a:xfrm>
            <a:off x="9019641" y="1965787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10"/>
          <a:srcRect l="-1282" r="-1282"/>
          <a:stretch/>
        </p:blipFill>
        <p:spPr>
          <a:xfrm>
            <a:off x="9176918" y="2136779"/>
            <a:ext cx="219456" cy="190195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9093707" y="2604038"/>
            <a:ext cx="4764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</a:t>
            </a:r>
            <a:endParaRPr lang="en-US" sz="900" dirty="0"/>
          </a:p>
        </p:txBody>
      </p:sp>
      <p:sp>
        <p:nvSpPr>
          <p:cNvPr id="51" name="Text 41"/>
          <p:cNvSpPr txBox="1"/>
          <p:nvPr/>
        </p:nvSpPr>
        <p:spPr>
          <a:xfrm>
            <a:off x="8880652" y="2803377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수기 참고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10489082" y="1965787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FFFFFF"/>
          </a:solidFill>
          <a:ln w="25400">
            <a:solidFill>
              <a:srgbClr val="FF6633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637215" y="2136779"/>
            <a:ext cx="237744" cy="190195"/>
          </a:xfrm>
          <a:prstGeom prst="rect">
            <a:avLst/>
          </a:prstGeom>
        </p:spPr>
      </p:pic>
      <p:sp>
        <p:nvSpPr>
          <p:cNvPr id="54" name="Text 43"/>
          <p:cNvSpPr txBox="1"/>
          <p:nvPr/>
        </p:nvSpPr>
        <p:spPr>
          <a:xfrm>
            <a:off x="10563148" y="2604038"/>
            <a:ext cx="4764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66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</a:t>
            </a:r>
            <a:endParaRPr lang="en-US" sz="900" dirty="0"/>
          </a:p>
        </p:txBody>
      </p:sp>
      <p:sp>
        <p:nvSpPr>
          <p:cNvPr id="55" name="Text 44"/>
          <p:cNvSpPr txBox="1"/>
          <p:nvPr/>
        </p:nvSpPr>
        <p:spPr>
          <a:xfrm>
            <a:off x="10430560" y="2803377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경험적 산정</a:t>
            </a:r>
            <a:endParaRPr lang="en-US" sz="1000" dirty="0"/>
          </a:p>
        </p:txBody>
      </p:sp>
      <p:sp>
        <p:nvSpPr>
          <p:cNvPr id="82" name="Shape 26">
            <a:extLst>
              <a:ext uri="{FF2B5EF4-FFF2-40B4-BE49-F238E27FC236}">
                <a16:creationId xmlns:a16="http://schemas.microsoft.com/office/drawing/2014/main" id="{EF6CB894-EE21-1D4E-DF85-C6D464102CF1}"/>
              </a:ext>
            </a:extLst>
          </p:cNvPr>
          <p:cNvSpPr/>
          <p:nvPr/>
        </p:nvSpPr>
        <p:spPr>
          <a:xfrm>
            <a:off x="457200" y="1638605"/>
            <a:ext cx="4515307" cy="4762195"/>
          </a:xfrm>
          <a:prstGeom prst="roundRect">
            <a:avLst>
              <a:gd name="adj" fmla="val 1025"/>
            </a:avLst>
          </a:prstGeom>
          <a:solidFill>
            <a:srgbClr val="111827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4" name="Image 6" descr="preencoded.png">
            <a:extLst>
              <a:ext uri="{FF2B5EF4-FFF2-40B4-BE49-F238E27FC236}">
                <a16:creationId xmlns:a16="http://schemas.microsoft.com/office/drawing/2014/main" id="{5505DD17-8DBE-D62E-F710-55C5D5B4C25E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80000"/>
          </a:blip>
          <a:srcRect l="-573848" r="-573848"/>
          <a:stretch/>
        </p:blipFill>
        <p:spPr>
          <a:xfrm>
            <a:off x="838505" y="2604211"/>
            <a:ext cx="3743554" cy="342900"/>
          </a:xfrm>
          <a:prstGeom prst="rect">
            <a:avLst/>
          </a:prstGeom>
        </p:spPr>
      </p:pic>
      <p:sp>
        <p:nvSpPr>
          <p:cNvPr id="85" name="Text 29">
            <a:extLst>
              <a:ext uri="{FF2B5EF4-FFF2-40B4-BE49-F238E27FC236}">
                <a16:creationId xmlns:a16="http://schemas.microsoft.com/office/drawing/2014/main" id="{7283653B-953D-2395-8702-153A98A53359}"/>
              </a:ext>
            </a:extLst>
          </p:cNvPr>
          <p:cNvSpPr txBox="1"/>
          <p:nvPr/>
        </p:nvSpPr>
        <p:spPr>
          <a:xfrm>
            <a:off x="838505" y="3193999"/>
            <a:ext cx="3777386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</a:t>
            </a:r>
            <a:r>
              <a:rPr lang="en-US" altLang="ko-KR" sz="2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수용인원</a:t>
            </a:r>
            <a:r>
              <a:rPr lang="en-US" altLang="ko-KR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계산은</a:t>
            </a:r>
            <a:r>
              <a:rPr lang="en-US" altLang="ko-KR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있었지만</a:t>
            </a:r>
            <a:r>
              <a:rPr lang="en-US" altLang="ko-KR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altLang="ko-KR" sz="2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혼잡도</a:t>
            </a:r>
            <a:r>
              <a:rPr lang="en-US" altLang="ko-KR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판단은</a:t>
            </a:r>
            <a:r>
              <a:rPr lang="en-US" altLang="ko-KR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사람의</a:t>
            </a:r>
            <a:r>
              <a:rPr lang="en-US" altLang="ko-KR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감각에</a:t>
            </a:r>
            <a:r>
              <a:rPr lang="en-US" altLang="ko-KR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의존했습니다</a:t>
            </a:r>
            <a:r>
              <a:rPr lang="en-US" altLang="ko-KR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."</a:t>
            </a:r>
            <a:endParaRPr lang="en-US" altLang="ko-KR" sz="2200" dirty="0"/>
          </a:p>
        </p:txBody>
      </p:sp>
      <p:sp>
        <p:nvSpPr>
          <p:cNvPr id="86" name="Shape 30">
            <a:extLst>
              <a:ext uri="{FF2B5EF4-FFF2-40B4-BE49-F238E27FC236}">
                <a16:creationId xmlns:a16="http://schemas.microsoft.com/office/drawing/2014/main" id="{30D4457A-C472-BAF0-BBB9-988CB201E7CE}"/>
              </a:ext>
            </a:extLst>
          </p:cNvPr>
          <p:cNvSpPr/>
          <p:nvPr/>
        </p:nvSpPr>
        <p:spPr>
          <a:xfrm>
            <a:off x="838505" y="4332427"/>
            <a:ext cx="457200" cy="38405"/>
          </a:xfrm>
          <a:prstGeom prst="roundRect">
            <a:avLst>
              <a:gd name="adj" fmla="val 2380940"/>
            </a:avLst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9"/>
          <p:cNvSpPr txBox="1"/>
          <p:nvPr/>
        </p:nvSpPr>
        <p:spPr>
          <a:xfrm>
            <a:off x="893369" y="4610405"/>
            <a:ext cx="21671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객관적인 데이터나 기준 없이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893369" y="4889297"/>
            <a:ext cx="19677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담당자의 경험에만 기대어</a:t>
            </a:r>
            <a:endParaRPr lang="en-US" sz="1300" dirty="0"/>
          </a:p>
        </p:txBody>
      </p:sp>
      <p:sp>
        <p:nvSpPr>
          <p:cNvPr id="38" name="Text 31"/>
          <p:cNvSpPr txBox="1"/>
          <p:nvPr/>
        </p:nvSpPr>
        <p:spPr>
          <a:xfrm>
            <a:off x="893369" y="5167274"/>
            <a:ext cx="26910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안전을 판단하던 한계가 있었습니다.</a:t>
            </a:r>
            <a:endParaRPr lang="en-US" sz="1300" dirty="0"/>
          </a:p>
        </p:txBody>
      </p:sp>
      <p:pic>
        <p:nvPicPr>
          <p:cNvPr id="91" name="Image 0" descr="preencoded.png">
            <a:extLst>
              <a:ext uri="{FF2B5EF4-FFF2-40B4-BE49-F238E27FC236}">
                <a16:creationId xmlns:a16="http://schemas.microsoft.com/office/drawing/2014/main" id="{90401603-85A7-6357-2899-2B28BA55AE75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142" b="141"/>
          <a:stretch/>
        </p:blipFill>
        <p:spPr>
          <a:xfrm>
            <a:off x="10652760" y="304495"/>
            <a:ext cx="1238098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305763" y="1143000"/>
            <a:ext cx="10429646" cy="3840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466344"/>
            <a:ext cx="11338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66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4500" dirty="0"/>
          </a:p>
        </p:txBody>
      </p:sp>
      <p:sp>
        <p:nvSpPr>
          <p:cNvPr id="8" name="Text 6"/>
          <p:cNvSpPr txBox="1"/>
          <p:nvPr/>
        </p:nvSpPr>
        <p:spPr>
          <a:xfrm>
            <a:off x="1305763" y="381305"/>
            <a:ext cx="4953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AI를 어디에, 어떻게 사용했는가?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1305763" y="838505"/>
            <a:ext cx="20153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ROLE &amp; COLLABORATION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24451" y="1600200"/>
            <a:ext cx="190195" cy="1901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828946" y="1561795"/>
            <a:ext cx="18288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AI의 4가지 핵심 역할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24451" y="1981505"/>
            <a:ext cx="3534156" cy="838505"/>
          </a:xfrm>
          <a:prstGeom prst="roundRect">
            <a:avLst>
              <a:gd name="adj" fmla="val 19827"/>
            </a:avLst>
          </a:prstGeom>
          <a:solidFill>
            <a:srgbClr val="F9FAFB"/>
          </a:solidFill>
          <a:ln/>
          <a:effectLst>
            <a:outerShdw blurRad="190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524451" y="1981505"/>
            <a:ext cx="38405" cy="83850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753051" y="217170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67351" y="2286000"/>
            <a:ext cx="152705" cy="15270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205826" y="1981505"/>
            <a:ext cx="3534156" cy="838505"/>
          </a:xfrm>
          <a:prstGeom prst="roundRect">
            <a:avLst>
              <a:gd name="adj" fmla="val 19827"/>
            </a:avLst>
          </a:prstGeom>
          <a:solidFill>
            <a:srgbClr val="F9FAFB"/>
          </a:solidFill>
          <a:ln/>
          <a:effectLst>
            <a:outerShdw blurRad="190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8205826" y="1981505"/>
            <a:ext cx="38405" cy="83850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8434426" y="217170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8567928" y="2286000"/>
            <a:ext cx="114300" cy="152705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524451" y="2971800"/>
            <a:ext cx="3534156" cy="838505"/>
          </a:xfrm>
          <a:prstGeom prst="roundRect">
            <a:avLst>
              <a:gd name="adj" fmla="val 19827"/>
            </a:avLst>
          </a:prstGeom>
          <a:solidFill>
            <a:srgbClr val="F9FAFB"/>
          </a:solidFill>
          <a:ln/>
          <a:effectLst>
            <a:outerShdw blurRad="190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4524451" y="2971800"/>
            <a:ext cx="38405" cy="83850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4753051" y="316199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67351" y="3276295"/>
            <a:ext cx="152705" cy="152705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8205826" y="2971800"/>
            <a:ext cx="3534156" cy="838505"/>
          </a:xfrm>
          <a:prstGeom prst="roundRect">
            <a:avLst>
              <a:gd name="adj" fmla="val 19827"/>
            </a:avLst>
          </a:prstGeom>
          <a:solidFill>
            <a:srgbClr val="F9FAFB"/>
          </a:solidFill>
          <a:ln/>
          <a:effectLst>
            <a:outerShdw blurRad="190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8205826" y="2971800"/>
            <a:ext cx="38405" cy="83850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0"/>
          <p:cNvSpPr/>
          <p:nvPr/>
        </p:nvSpPr>
        <p:spPr>
          <a:xfrm>
            <a:off x="8434426" y="316199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 l="-33" r="-33"/>
          <a:stretch/>
        </p:blipFill>
        <p:spPr>
          <a:xfrm>
            <a:off x="8539582" y="3276295"/>
            <a:ext cx="171907" cy="15270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286146" y="21717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면적 기준 자동 적용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5286146" y="2438705"/>
            <a:ext cx="18909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행사 유형별 최적 면적 기준 매칭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8967521" y="2171700"/>
            <a:ext cx="132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수용인원 자동 계산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8967521" y="2438705"/>
            <a:ext cx="17675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면적 대비 적정 인원 즉시 산출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5286146" y="3161995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등급 판단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5286146" y="3429000"/>
            <a:ext cx="18050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혼잡도 기반 위험도 5단계 분류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8967521" y="3161995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도면 AI 분석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8967521" y="3429000"/>
            <a:ext cx="18909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좌석 배치 및 레이아웃 자동 인식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457200" y="1561795"/>
            <a:ext cx="3610051" cy="4839005"/>
          </a:xfrm>
          <a:prstGeom prst="roundRect">
            <a:avLst>
              <a:gd name="adj" fmla="val 1604"/>
            </a:avLst>
          </a:prstGeom>
          <a:solidFill>
            <a:srgbClr val="111827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>
            <a:alphaModFix amt="90000"/>
          </a:blip>
          <a:srcRect l="-387467" r="-387467"/>
          <a:stretch/>
        </p:blipFill>
        <p:spPr>
          <a:xfrm>
            <a:off x="761695" y="2426818"/>
            <a:ext cx="3000146" cy="34290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761695" y="3016606"/>
            <a:ext cx="3195828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계산은 AI가, 책임은 사람이</a:t>
            </a:r>
            <a:endParaRPr lang="en-US" sz="2200" dirty="0"/>
          </a:p>
        </p:txBody>
      </p:sp>
      <p:sp>
        <p:nvSpPr>
          <p:cNvPr id="41" name="Shape 33"/>
          <p:cNvSpPr/>
          <p:nvPr/>
        </p:nvSpPr>
        <p:spPr>
          <a:xfrm>
            <a:off x="761695" y="4155034"/>
            <a:ext cx="457200" cy="38405"/>
          </a:xfrm>
          <a:prstGeom prst="roundRect">
            <a:avLst>
              <a:gd name="adj" fmla="val 2380940"/>
            </a:avLst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4"/>
          <p:cNvSpPr txBox="1"/>
          <p:nvPr/>
        </p:nvSpPr>
        <p:spPr>
          <a:xfrm>
            <a:off x="761695" y="4431182"/>
            <a:ext cx="14813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복잡한 계산과</a:t>
            </a:r>
            <a:endParaRPr lang="en-US" sz="1300" dirty="0"/>
          </a:p>
        </p:txBody>
      </p:sp>
      <p:sp>
        <p:nvSpPr>
          <p:cNvPr id="43" name="Text 35"/>
          <p:cNvSpPr txBox="1"/>
          <p:nvPr/>
        </p:nvSpPr>
        <p:spPr>
          <a:xfrm>
            <a:off x="761695" y="4710074"/>
            <a:ext cx="18534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분석을 담당하고,</a:t>
            </a:r>
            <a:endParaRPr lang="en-US" sz="1300" dirty="0"/>
          </a:p>
        </p:txBody>
      </p:sp>
      <p:sp>
        <p:nvSpPr>
          <p:cNvPr id="44" name="Text 36"/>
          <p:cNvSpPr txBox="1"/>
          <p:nvPr/>
        </p:nvSpPr>
        <p:spPr>
          <a:xfrm>
            <a:off x="761695" y="4988966"/>
            <a:ext cx="18534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사람은 최종 안전 판단과</a:t>
            </a:r>
            <a:endParaRPr lang="en-US" sz="1300" dirty="0"/>
          </a:p>
        </p:txBody>
      </p:sp>
      <p:sp>
        <p:nvSpPr>
          <p:cNvPr id="45" name="Text 37"/>
          <p:cNvSpPr txBox="1"/>
          <p:nvPr/>
        </p:nvSpPr>
        <p:spPr>
          <a:xfrm>
            <a:off x="761695" y="5266944"/>
            <a:ext cx="18050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의사결정에 집중합니다.</a:t>
            </a:r>
            <a:endParaRPr lang="en-US" sz="1300" dirty="0"/>
          </a:p>
        </p:txBody>
      </p:sp>
      <p:sp>
        <p:nvSpPr>
          <p:cNvPr id="46" name="Shape 38"/>
          <p:cNvSpPr/>
          <p:nvPr/>
        </p:nvSpPr>
        <p:spPr>
          <a:xfrm>
            <a:off x="4524451" y="4343400"/>
            <a:ext cx="7210044" cy="2057400"/>
          </a:xfrm>
          <a:prstGeom prst="roundRect">
            <a:avLst>
              <a:gd name="adj" fmla="val 32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90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762195" y="4619549"/>
            <a:ext cx="237744" cy="190195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5115154" y="4581144"/>
            <a:ext cx="22485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AI와 사람의 협업 프로세스</a:t>
            </a:r>
            <a:endParaRPr lang="en-US" sz="1500" dirty="0"/>
          </a:p>
        </p:txBody>
      </p:sp>
      <p:sp>
        <p:nvSpPr>
          <p:cNvPr id="49" name="Shape 40"/>
          <p:cNvSpPr/>
          <p:nvPr/>
        </p:nvSpPr>
        <p:spPr>
          <a:xfrm>
            <a:off x="4762195" y="5000854"/>
            <a:ext cx="3114446" cy="1162202"/>
          </a:xfrm>
          <a:prstGeom prst="roundRect">
            <a:avLst>
              <a:gd name="adj" fmla="val 7739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1"/>
          <p:cNvSpPr/>
          <p:nvPr/>
        </p:nvSpPr>
        <p:spPr>
          <a:xfrm>
            <a:off x="8382305" y="5000854"/>
            <a:ext cx="3114446" cy="1162202"/>
          </a:xfrm>
          <a:prstGeom prst="roundRect">
            <a:avLst>
              <a:gd name="adj" fmla="val 773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10"/>
          <a:srcRect l="-80" r="-80"/>
          <a:stretch/>
        </p:blipFill>
        <p:spPr>
          <a:xfrm>
            <a:off x="6176772" y="5210251"/>
            <a:ext cx="286207" cy="228600"/>
          </a:xfrm>
          <a:prstGeom prst="rect">
            <a:avLst/>
          </a:prstGeom>
        </p:spPr>
      </p:pic>
      <p:sp>
        <p:nvSpPr>
          <p:cNvPr id="52" name="Text 42"/>
          <p:cNvSpPr txBox="1"/>
          <p:nvPr/>
        </p:nvSpPr>
        <p:spPr>
          <a:xfrm>
            <a:off x="5950001" y="5544007"/>
            <a:ext cx="857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System</a:t>
            </a:r>
            <a:endParaRPr lang="en-US" sz="1200" dirty="0"/>
          </a:p>
        </p:txBody>
      </p:sp>
      <p:sp>
        <p:nvSpPr>
          <p:cNvPr id="53" name="Text 43"/>
          <p:cNvSpPr txBox="1"/>
          <p:nvPr/>
        </p:nvSpPr>
        <p:spPr>
          <a:xfrm>
            <a:off x="5672023" y="5810098"/>
            <a:ext cx="14054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 &amp; 1차 판단</a:t>
            </a:r>
            <a:endParaRPr lang="en-US" sz="1000" dirty="0"/>
          </a:p>
        </p:txBody>
      </p:sp>
      <p:pic>
        <p:nvPicPr>
          <p:cNvPr id="54" name="Image 8" descr="preencoded.png"/>
          <p:cNvPicPr>
            <a:picLocks noChangeAspect="1"/>
          </p:cNvPicPr>
          <p:nvPr/>
        </p:nvPicPr>
        <p:blipFill>
          <a:blip r:embed="rId11"/>
          <a:srcRect l="-57" r="-57"/>
          <a:stretch/>
        </p:blipFill>
        <p:spPr>
          <a:xfrm>
            <a:off x="9838944" y="5210251"/>
            <a:ext cx="200254" cy="228600"/>
          </a:xfrm>
          <a:prstGeom prst="rect">
            <a:avLst/>
          </a:prstGeom>
        </p:spPr>
      </p:pic>
      <p:sp>
        <p:nvSpPr>
          <p:cNvPr id="55" name="Text 44"/>
          <p:cNvSpPr txBox="1"/>
          <p:nvPr/>
        </p:nvSpPr>
        <p:spPr>
          <a:xfrm>
            <a:off x="9614002" y="5544007"/>
            <a:ext cx="771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Manager</a:t>
            </a:r>
            <a:endParaRPr lang="en-US" sz="1200" dirty="0"/>
          </a:p>
        </p:txBody>
      </p:sp>
      <p:sp>
        <p:nvSpPr>
          <p:cNvPr id="56" name="Text 45"/>
          <p:cNvSpPr txBox="1"/>
          <p:nvPr/>
        </p:nvSpPr>
        <p:spPr>
          <a:xfrm>
            <a:off x="9346997" y="5810098"/>
            <a:ext cx="12911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의사결정 &amp; 책임</a:t>
            </a:r>
            <a:endParaRPr lang="en-US" sz="1000" dirty="0"/>
          </a:p>
        </p:txBody>
      </p:sp>
      <p:pic>
        <p:nvPicPr>
          <p:cNvPr id="57" name="Image 9" descr="preencoded.png"/>
          <p:cNvPicPr>
            <a:picLocks noChangeAspect="1"/>
          </p:cNvPicPr>
          <p:nvPr/>
        </p:nvPicPr>
        <p:blipFill>
          <a:blip r:embed="rId12">
            <a:alphaModFix amt="84000"/>
          </a:blip>
          <a:srcRect l="-57" r="-57"/>
          <a:stretch/>
        </p:blipFill>
        <p:spPr>
          <a:xfrm>
            <a:off x="8029346" y="5458054"/>
            <a:ext cx="200254" cy="228600"/>
          </a:xfrm>
          <a:prstGeom prst="rect">
            <a:avLst/>
          </a:prstGeom>
        </p:spPr>
      </p:pic>
      <p:pic>
        <p:nvPicPr>
          <p:cNvPr id="59" name="Image 0" descr="preencoded.png">
            <a:extLst>
              <a:ext uri="{FF2B5EF4-FFF2-40B4-BE49-F238E27FC236}">
                <a16:creationId xmlns:a16="http://schemas.microsoft.com/office/drawing/2014/main" id="{F6189AB7-E086-EB11-C7E0-DF3FC23A6EB3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142" b="141"/>
          <a:stretch/>
        </p:blipFill>
        <p:spPr>
          <a:xfrm>
            <a:off x="10652760" y="304495"/>
            <a:ext cx="1238098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2F013-6532-FB4A-CAB6-B67536257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3154AA-BB5F-E29E-BC32-7CAB33482F1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8D6B793-50DA-527A-9655-88FB518407F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469F3942-DC2C-AB72-129D-708725321062}"/>
              </a:ext>
            </a:extLst>
          </p:cNvPr>
          <p:cNvGrpSpPr/>
          <p:nvPr/>
        </p:nvGrpSpPr>
        <p:grpSpPr>
          <a:xfrm>
            <a:off x="1681648" y="2591336"/>
            <a:ext cx="9590161" cy="1675327"/>
            <a:chOff x="1530605" y="2482652"/>
            <a:chExt cx="9590161" cy="1675327"/>
          </a:xfrm>
        </p:grpSpPr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8B732D1C-EB3F-793E-7056-ABA9B8C502A5}"/>
                </a:ext>
              </a:extLst>
            </p:cNvPr>
            <p:cNvSpPr txBox="1"/>
            <p:nvPr/>
          </p:nvSpPr>
          <p:spPr>
            <a:xfrm>
              <a:off x="1530605" y="2482652"/>
              <a:ext cx="1133856" cy="8293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200" b="1" dirty="0">
                  <a:solidFill>
                    <a:srgbClr val="FF66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04</a:t>
              </a:r>
              <a:endParaRPr lang="en-US" sz="7200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4236F15B-565D-F7E1-8A65-413209916CEA}"/>
                </a:ext>
              </a:extLst>
            </p:cNvPr>
            <p:cNvSpPr txBox="1"/>
            <p:nvPr/>
          </p:nvSpPr>
          <p:spPr>
            <a:xfrm>
              <a:off x="3138595" y="2649531"/>
              <a:ext cx="7982171" cy="495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5400" b="1" dirty="0" err="1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우리가</a:t>
              </a:r>
              <a:r>
                <a:rPr lang="en-US" altLang="ko-KR" sz="54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altLang="ko-KR" sz="5400" b="1" dirty="0" err="1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만든</a:t>
              </a:r>
              <a:r>
                <a:rPr lang="en-US" altLang="ko-KR" sz="54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altLang="ko-KR" sz="5400" b="1" dirty="0" err="1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결과물</a:t>
              </a:r>
              <a:r>
                <a:rPr lang="en-US" altLang="ko-KR" sz="54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altLang="ko-KR" sz="5400" b="1" dirty="0" err="1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소개</a:t>
              </a:r>
              <a:endParaRPr lang="en-US" altLang="ko-KR" sz="54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43E12254-065F-6BF4-B3C2-3683BD7D5DBD}"/>
                </a:ext>
              </a:extLst>
            </p:cNvPr>
            <p:cNvSpPr txBox="1"/>
            <p:nvPr/>
          </p:nvSpPr>
          <p:spPr>
            <a:xfrm>
              <a:off x="4005528" y="3966869"/>
              <a:ext cx="418063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3200" b="1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SYSTEM UI &amp; DEMO</a:t>
              </a:r>
              <a:endParaRPr lang="en-US" altLang="ko-KR" sz="3200" b="1" dirty="0"/>
            </a:p>
          </p:txBody>
        </p:sp>
      </p:grp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04067A14-AB1E-2A4D-189D-10A8359EB0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2" b="141"/>
          <a:stretch/>
        </p:blipFill>
        <p:spPr>
          <a:xfrm>
            <a:off x="10652760" y="304495"/>
            <a:ext cx="1238098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778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A199B-C670-05A7-D072-C0425E712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2549D6-48EB-7BFC-CABD-FE4CCF00FA3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F737035-9002-2865-476F-51212F5AB44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09102A7-9EDD-85D0-DB73-379B2308B003}"/>
              </a:ext>
            </a:extLst>
          </p:cNvPr>
          <p:cNvSpPr/>
          <p:nvPr/>
        </p:nvSpPr>
        <p:spPr>
          <a:xfrm>
            <a:off x="1305763" y="1143000"/>
            <a:ext cx="10429646" cy="3840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38E1955-51E2-3D07-444C-EFF85AA3A619}"/>
              </a:ext>
            </a:extLst>
          </p:cNvPr>
          <p:cNvSpPr txBox="1"/>
          <p:nvPr/>
        </p:nvSpPr>
        <p:spPr>
          <a:xfrm>
            <a:off x="457200" y="466344"/>
            <a:ext cx="11338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66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4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B415CF4-2043-8538-1854-918245D08A43}"/>
              </a:ext>
            </a:extLst>
          </p:cNvPr>
          <p:cNvSpPr txBox="1"/>
          <p:nvPr/>
        </p:nvSpPr>
        <p:spPr>
          <a:xfrm>
            <a:off x="1305763" y="381305"/>
            <a:ext cx="723710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8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우리가</a:t>
            </a:r>
            <a:r>
              <a:rPr lang="en-US" altLang="ko-KR" sz="2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8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만든</a:t>
            </a:r>
            <a:r>
              <a:rPr lang="en-US" altLang="ko-KR" sz="2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8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결과물</a:t>
            </a:r>
            <a:r>
              <a:rPr lang="en-US" altLang="ko-KR" sz="2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8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소개</a:t>
            </a:r>
            <a:r>
              <a:rPr lang="en-US" altLang="ko-KR" sz="2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– </a:t>
            </a:r>
            <a:r>
              <a:rPr lang="ko-KR" altLang="en-US" sz="2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공식 설명</a:t>
            </a:r>
            <a:r>
              <a:rPr lang="en-US" altLang="ko-KR" sz="2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altLang="ko-KR" sz="2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3E0A3F2-2C3F-49C6-5F00-FE765F012702}"/>
              </a:ext>
            </a:extLst>
          </p:cNvPr>
          <p:cNvSpPr txBox="1"/>
          <p:nvPr/>
        </p:nvSpPr>
        <p:spPr>
          <a:xfrm>
            <a:off x="1305763" y="838505"/>
            <a:ext cx="20153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 UI &amp; DEMO</a:t>
            </a:r>
            <a:endParaRPr lang="en-US" altLang="ko-KR" sz="1000" b="1" dirty="0"/>
          </a:p>
        </p:txBody>
      </p:sp>
      <p:pic>
        <p:nvPicPr>
          <p:cNvPr id="59" name="Image 0" descr="preencoded.png">
            <a:extLst>
              <a:ext uri="{FF2B5EF4-FFF2-40B4-BE49-F238E27FC236}">
                <a16:creationId xmlns:a16="http://schemas.microsoft.com/office/drawing/2014/main" id="{4684EEDF-1FFE-1E4F-3B17-5B5BFA3378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2" b="141"/>
          <a:stretch/>
        </p:blipFill>
        <p:spPr>
          <a:xfrm>
            <a:off x="10652760" y="304495"/>
            <a:ext cx="1238098" cy="571500"/>
          </a:xfrm>
          <a:prstGeom prst="rect">
            <a:avLst/>
          </a:prstGeom>
        </p:spPr>
      </p:pic>
      <p:sp>
        <p:nvSpPr>
          <p:cNvPr id="4" name="Shape 27">
            <a:extLst>
              <a:ext uri="{FF2B5EF4-FFF2-40B4-BE49-F238E27FC236}">
                <a16:creationId xmlns:a16="http://schemas.microsoft.com/office/drawing/2014/main" id="{26B307F6-F598-CA1A-69C3-F38323078401}"/>
              </a:ext>
            </a:extLst>
          </p:cNvPr>
          <p:cNvSpPr/>
          <p:nvPr/>
        </p:nvSpPr>
        <p:spPr>
          <a:xfrm>
            <a:off x="1305763" y="1401777"/>
            <a:ext cx="10429646" cy="4846624"/>
          </a:xfrm>
          <a:prstGeom prst="roundRect">
            <a:avLst>
              <a:gd name="adj" fmla="val 4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0" dist="1016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D37D9F-8D29-21E0-52DA-82E7F62B8615}"/>
              </a:ext>
            </a:extLst>
          </p:cNvPr>
          <p:cNvSpPr txBox="1"/>
          <p:nvPr/>
        </p:nvSpPr>
        <p:spPr>
          <a:xfrm>
            <a:off x="1591056" y="1638407"/>
            <a:ext cx="9838268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1. </a:t>
            </a:r>
            <a:r>
              <a:rPr lang="ko-KR" altLang="en-US" sz="2000" b="1" dirty="0"/>
              <a:t>행사장 유형 선택</a:t>
            </a:r>
            <a:r>
              <a:rPr lang="en-US" altLang="ko-KR" sz="2000" b="1" dirty="0"/>
              <a:t>(1</a:t>
            </a:r>
            <a:r>
              <a:rPr lang="ko-KR" altLang="en-US" sz="2000" b="1" dirty="0"/>
              <a:t>인당 ㎡ 기준 </a:t>
            </a:r>
            <a:r>
              <a:rPr lang="en-US" altLang="ko-KR" sz="2000" b="1" dirty="0"/>
              <a:t>)</a:t>
            </a:r>
          </a:p>
          <a:p>
            <a:r>
              <a:rPr lang="ko-KR" altLang="en-US" sz="2000" b="1" dirty="0" err="1"/>
              <a:t>스탠딩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: 1</a:t>
            </a:r>
            <a:r>
              <a:rPr lang="ko-KR" altLang="en-US" sz="2000" b="1" dirty="0"/>
              <a:t>인당 </a:t>
            </a:r>
            <a:r>
              <a:rPr lang="en-US" altLang="ko-KR" sz="2000" b="1" dirty="0"/>
              <a:t>0.5㎡/</a:t>
            </a:r>
            <a:r>
              <a:rPr lang="ko-KR" altLang="en-US" sz="2000" b="1" dirty="0"/>
              <a:t>연회형 </a:t>
            </a:r>
            <a:r>
              <a:rPr lang="en-US" altLang="ko-KR" sz="2000" b="1" dirty="0"/>
              <a:t>: 1</a:t>
            </a:r>
            <a:r>
              <a:rPr lang="ko-KR" altLang="en-US" sz="2000" b="1" dirty="0"/>
              <a:t>인당 </a:t>
            </a:r>
            <a:r>
              <a:rPr lang="en-US" altLang="ko-KR" sz="2000" b="1" dirty="0"/>
              <a:t>1.3~1.9㎡/</a:t>
            </a:r>
            <a:r>
              <a:rPr lang="ko-KR" altLang="en-US" sz="2000" b="1" dirty="0"/>
              <a:t>극장형 </a:t>
            </a:r>
            <a:r>
              <a:rPr lang="en-US" altLang="ko-KR" sz="2000" b="1" dirty="0"/>
              <a:t>: 1</a:t>
            </a:r>
            <a:r>
              <a:rPr lang="ko-KR" altLang="en-US" sz="2000" b="1" dirty="0"/>
              <a:t>인당 약 </a:t>
            </a:r>
            <a:r>
              <a:rPr lang="en-US" altLang="ko-KR" sz="2000" b="1" dirty="0"/>
              <a:t>0.65~1.0㎡/</a:t>
            </a:r>
          </a:p>
          <a:p>
            <a:r>
              <a:rPr lang="ko-KR" altLang="en-US" sz="2000" b="1" dirty="0"/>
              <a:t>교실형 </a:t>
            </a:r>
            <a:r>
              <a:rPr lang="en-US" altLang="ko-KR" sz="2000" b="1" dirty="0"/>
              <a:t>: 1</a:t>
            </a:r>
            <a:r>
              <a:rPr lang="ko-KR" altLang="en-US" sz="2000" b="1" dirty="0"/>
              <a:t>인당 </a:t>
            </a:r>
            <a:r>
              <a:rPr lang="en-US" altLang="ko-KR" sz="2000" b="1" dirty="0"/>
              <a:t>2.0 ㎡</a:t>
            </a:r>
          </a:p>
          <a:p>
            <a:endParaRPr lang="en-US" altLang="ko-KR" sz="2000" dirty="0"/>
          </a:p>
          <a:p>
            <a:r>
              <a:rPr lang="en-US" altLang="ko-KR" sz="2000" b="1" dirty="0"/>
              <a:t>2. </a:t>
            </a:r>
            <a:r>
              <a:rPr lang="ko-KR" altLang="en-US" sz="2000" b="1" dirty="0"/>
              <a:t>기본 공식 설명</a:t>
            </a:r>
            <a:endParaRPr lang="en-US" altLang="ko-KR" sz="2000" b="1" dirty="0"/>
          </a:p>
          <a:p>
            <a:r>
              <a:rPr lang="en-US" altLang="ko-KR" sz="2000" b="1" dirty="0"/>
              <a:t>1).</a:t>
            </a:r>
            <a:r>
              <a:rPr lang="ko-KR" altLang="en-US" sz="2000" b="1" dirty="0"/>
              <a:t>행사장 수용인원 계산 공식 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행사장 수용 인원을 사람 </a:t>
            </a:r>
            <a:r>
              <a:rPr lang="en-US" altLang="ko-KR" sz="2000" b="1" dirty="0"/>
              <a:t>1</a:t>
            </a:r>
            <a:r>
              <a:rPr lang="ko-KR" altLang="en-US" sz="2000" b="1" dirty="0"/>
              <a:t>명당 필요한 최소 면적으로 나누어 물리적으로 수용 가능한 최대 인원을 산출하는 방식입니다</a:t>
            </a:r>
            <a:r>
              <a:rPr lang="en-US" altLang="ko-KR" sz="2000" b="1" dirty="0"/>
              <a:t>.</a:t>
            </a:r>
          </a:p>
          <a:p>
            <a:endParaRPr lang="en-US" altLang="ko-KR" sz="2000" b="1" dirty="0"/>
          </a:p>
          <a:p>
            <a:r>
              <a:rPr lang="en-US" altLang="ko-KR" sz="2000" b="1" dirty="0"/>
              <a:t>2).</a:t>
            </a:r>
            <a:r>
              <a:rPr lang="ko-KR" altLang="en-US" sz="2000" b="1" dirty="0"/>
              <a:t>최대 수용 인원 </a:t>
            </a:r>
            <a:r>
              <a:rPr lang="en-US" altLang="ko-KR" sz="2000" b="1" dirty="0"/>
              <a:t>= </a:t>
            </a:r>
            <a:r>
              <a:rPr lang="ko-KR" altLang="en-US" sz="2000" b="1" dirty="0"/>
              <a:t>실제 사용 면적</a:t>
            </a:r>
            <a:r>
              <a:rPr lang="en-US" altLang="ko-KR" sz="2000" b="1" dirty="0"/>
              <a:t>(㎡) ÷ 1</a:t>
            </a:r>
            <a:r>
              <a:rPr lang="ko-KR" altLang="en-US" sz="2000" b="1" dirty="0"/>
              <a:t>인당 필요 면적</a:t>
            </a:r>
            <a:r>
              <a:rPr lang="en-US" altLang="ko-KR" sz="2000" b="1" dirty="0"/>
              <a:t>(㎡)</a:t>
            </a:r>
            <a:br>
              <a:rPr lang="en-US" altLang="ko-KR" sz="2000" b="1" dirty="0"/>
            </a:br>
            <a:br>
              <a:rPr lang="en-US" altLang="ko-KR" sz="2000" b="1" dirty="0"/>
            </a:br>
            <a:r>
              <a:rPr lang="en-US" altLang="ko-KR" sz="2000" b="1" dirty="0"/>
              <a:t>3).</a:t>
            </a:r>
            <a:r>
              <a:rPr lang="ko-KR" altLang="en-US" sz="2000" b="1" dirty="0"/>
              <a:t>예시</a:t>
            </a:r>
            <a:r>
              <a:rPr lang="en-US" altLang="ko-KR" sz="2000" b="1" dirty="0"/>
              <a:t>: </a:t>
            </a:r>
            <a:r>
              <a:rPr lang="ko-KR" altLang="en-US" sz="2000" b="1" dirty="0" err="1"/>
              <a:t>스탠딩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(0.5㎡ / 1</a:t>
            </a:r>
            <a:r>
              <a:rPr lang="ko-KR" altLang="en-US" sz="2000" b="1" dirty="0"/>
              <a:t>인</a:t>
            </a:r>
            <a:r>
              <a:rPr lang="en-US" altLang="ko-KR" sz="2000" b="1" dirty="0"/>
              <a:t>) </a:t>
            </a:r>
          </a:p>
          <a:p>
            <a:r>
              <a:rPr lang="ko-KR" altLang="en-US" sz="2000" b="1" dirty="0"/>
              <a:t>구성 특징 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좌석 없음</a:t>
            </a:r>
            <a:r>
              <a:rPr lang="en-US" altLang="ko-KR" sz="2000" b="1" dirty="0"/>
              <a:t>,</a:t>
            </a:r>
            <a:r>
              <a:rPr lang="ko-KR" altLang="en-US" sz="2000" b="1" dirty="0"/>
              <a:t>콘서트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페스티벌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전시 오프닝 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짧은 체류 또는 공연 집중</a:t>
            </a:r>
          </a:p>
          <a:p>
            <a:r>
              <a:rPr lang="ko-KR" altLang="en-US" sz="2000" b="1" dirty="0"/>
              <a:t>실무 적용 원칙</a:t>
            </a:r>
            <a:r>
              <a:rPr lang="en-US" altLang="ko-KR" sz="2000" b="1" dirty="0"/>
              <a:t>: 0.5㎡</a:t>
            </a:r>
            <a:r>
              <a:rPr lang="ko-KR" altLang="en-US" sz="2000" b="1" dirty="0"/>
              <a:t>는 절대 상한선</a:t>
            </a:r>
            <a:r>
              <a:rPr lang="en-US" altLang="ko-KR" sz="2000" b="1" dirty="0"/>
              <a:t>, AI </a:t>
            </a:r>
            <a:r>
              <a:rPr lang="ko-KR" altLang="en-US" sz="2000" b="1" dirty="0"/>
              <a:t>보정 단계에서 보통 </a:t>
            </a:r>
            <a:r>
              <a:rPr lang="en-US" altLang="ko-KR" sz="2000" b="1" dirty="0"/>
              <a:t>10~30% </a:t>
            </a:r>
            <a:r>
              <a:rPr lang="ko-KR" altLang="en-US" sz="2000" b="1" dirty="0"/>
              <a:t>감소</a:t>
            </a:r>
            <a:endParaRPr lang="en-US" altLang="ko-KR" sz="2000" b="1" dirty="0"/>
          </a:p>
          <a:p>
            <a:r>
              <a:rPr lang="ko-KR" altLang="en-US" sz="2000" b="1" dirty="0"/>
              <a:t>사용 면적 </a:t>
            </a:r>
            <a:r>
              <a:rPr lang="en-US" altLang="ko-KR" sz="2000" b="1" dirty="0"/>
              <a:t>500㎡ ÷ 0.5㎡ = 1,000</a:t>
            </a:r>
            <a:r>
              <a:rPr lang="ko-KR" altLang="en-US" sz="2000" b="1" dirty="0"/>
              <a:t>명 </a:t>
            </a:r>
            <a:r>
              <a:rPr lang="en-US" altLang="ko-KR" sz="2000" b="1" dirty="0"/>
              <a:t>(</a:t>
            </a:r>
            <a:r>
              <a:rPr lang="ko-KR" altLang="en-US" sz="2000" b="1" dirty="0" err="1"/>
              <a:t>이론치</a:t>
            </a:r>
            <a:r>
              <a:rPr lang="en-US" altLang="ko-KR" sz="2000" b="1" dirty="0"/>
              <a:t>) → AI </a:t>
            </a:r>
            <a:r>
              <a:rPr lang="ko-KR" altLang="en-US" sz="2000" b="1" dirty="0"/>
              <a:t>보정 후 권장</a:t>
            </a:r>
            <a:r>
              <a:rPr lang="en-US" altLang="ko-KR" sz="2000" b="1" dirty="0"/>
              <a:t>: 700~850</a:t>
            </a:r>
            <a:r>
              <a:rPr lang="ko-KR" altLang="en-US" sz="2000" b="1" dirty="0"/>
              <a:t>명</a:t>
            </a:r>
            <a:br>
              <a:rPr lang="en-US" altLang="ko-KR" dirty="0"/>
            </a:b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26490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CC2AC-9D95-AF6E-157A-F65EFCA14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467F180-956F-3907-9041-904BAE5EE24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F71AC95-B6A8-07AF-0F71-786F1616823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7F7F4CF-3D4E-DBBD-37FA-29C672911C41}"/>
              </a:ext>
            </a:extLst>
          </p:cNvPr>
          <p:cNvSpPr/>
          <p:nvPr/>
        </p:nvSpPr>
        <p:spPr>
          <a:xfrm>
            <a:off x="1305763" y="1143000"/>
            <a:ext cx="10429646" cy="3840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98CBA28-89EC-4EE7-0632-AE6CD2ECB309}"/>
              </a:ext>
            </a:extLst>
          </p:cNvPr>
          <p:cNvSpPr txBox="1"/>
          <p:nvPr/>
        </p:nvSpPr>
        <p:spPr>
          <a:xfrm>
            <a:off x="457200" y="466344"/>
            <a:ext cx="11338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66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4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4BC87A5-A8CE-2062-021C-EBF34CC528F9}"/>
              </a:ext>
            </a:extLst>
          </p:cNvPr>
          <p:cNvSpPr txBox="1"/>
          <p:nvPr/>
        </p:nvSpPr>
        <p:spPr>
          <a:xfrm>
            <a:off x="1305763" y="381305"/>
            <a:ext cx="723710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8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우리가</a:t>
            </a:r>
            <a:r>
              <a:rPr lang="en-US" altLang="ko-KR" sz="2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8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만든</a:t>
            </a:r>
            <a:r>
              <a:rPr lang="en-US" altLang="ko-KR" sz="2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8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결과물</a:t>
            </a:r>
            <a:r>
              <a:rPr lang="en-US" altLang="ko-KR" sz="2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8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소개</a:t>
            </a:r>
            <a:r>
              <a:rPr lang="en-US" altLang="ko-KR" sz="2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– </a:t>
            </a:r>
            <a:r>
              <a:rPr lang="ko-KR" altLang="en-US" sz="2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공식 설명</a:t>
            </a:r>
            <a:r>
              <a:rPr lang="en-US" altLang="ko-KR" sz="2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altLang="ko-KR" sz="2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9CFA302-3702-FACA-CC78-CEF943861F72}"/>
              </a:ext>
            </a:extLst>
          </p:cNvPr>
          <p:cNvSpPr txBox="1"/>
          <p:nvPr/>
        </p:nvSpPr>
        <p:spPr>
          <a:xfrm>
            <a:off x="1305763" y="838505"/>
            <a:ext cx="20153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 UI &amp; DEMO</a:t>
            </a:r>
            <a:endParaRPr lang="en-US" altLang="ko-KR" sz="1000" b="1" dirty="0"/>
          </a:p>
        </p:txBody>
      </p:sp>
      <p:pic>
        <p:nvPicPr>
          <p:cNvPr id="59" name="Image 0" descr="preencoded.png">
            <a:extLst>
              <a:ext uri="{FF2B5EF4-FFF2-40B4-BE49-F238E27FC236}">
                <a16:creationId xmlns:a16="http://schemas.microsoft.com/office/drawing/2014/main" id="{AAB82FC2-FC62-E978-6C37-B098B5BFF9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2" b="141"/>
          <a:stretch/>
        </p:blipFill>
        <p:spPr>
          <a:xfrm>
            <a:off x="10652760" y="304495"/>
            <a:ext cx="1238098" cy="571500"/>
          </a:xfrm>
          <a:prstGeom prst="rect">
            <a:avLst/>
          </a:prstGeom>
        </p:spPr>
      </p:pic>
      <p:sp>
        <p:nvSpPr>
          <p:cNvPr id="4" name="Shape 27">
            <a:extLst>
              <a:ext uri="{FF2B5EF4-FFF2-40B4-BE49-F238E27FC236}">
                <a16:creationId xmlns:a16="http://schemas.microsoft.com/office/drawing/2014/main" id="{BBBD06C8-0A13-B640-85E8-CF94DF263B00}"/>
              </a:ext>
            </a:extLst>
          </p:cNvPr>
          <p:cNvSpPr/>
          <p:nvPr/>
        </p:nvSpPr>
        <p:spPr>
          <a:xfrm>
            <a:off x="1305763" y="1401777"/>
            <a:ext cx="10429646" cy="4846624"/>
          </a:xfrm>
          <a:prstGeom prst="roundRect">
            <a:avLst>
              <a:gd name="adj" fmla="val 4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0" dist="1016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915446-2545-720C-C6F3-5792C3C29EA8}"/>
              </a:ext>
            </a:extLst>
          </p:cNvPr>
          <p:cNvSpPr txBox="1"/>
          <p:nvPr/>
        </p:nvSpPr>
        <p:spPr>
          <a:xfrm>
            <a:off x="1380067" y="1638407"/>
            <a:ext cx="10355342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3. </a:t>
            </a:r>
            <a:r>
              <a:rPr lang="ko-KR" altLang="en-US" sz="2000" b="1" dirty="0"/>
              <a:t>혼잡도 계산</a:t>
            </a:r>
            <a:endParaRPr lang="en-US" altLang="ko-KR" sz="2000" b="1" dirty="0"/>
          </a:p>
          <a:p>
            <a:r>
              <a:rPr lang="en-US" altLang="ko-KR" sz="1600" b="1" dirty="0"/>
              <a:t>1).</a:t>
            </a:r>
            <a:r>
              <a:rPr lang="ko-KR" altLang="en-US" sz="1600" b="1" dirty="0"/>
              <a:t>혼잡도</a:t>
            </a:r>
            <a:r>
              <a:rPr lang="en-US" altLang="ko-KR" sz="1600" b="1" dirty="0"/>
              <a:t>(Crowd Congestion)</a:t>
            </a:r>
            <a:r>
              <a:rPr lang="ko-KR" altLang="en-US" sz="1600" b="1" dirty="0"/>
              <a:t>는 단순히 사람 수가 아니라</a:t>
            </a:r>
            <a:r>
              <a:rPr lang="en-US" altLang="ko-KR" sz="1600" b="1" dirty="0"/>
              <a:t>,</a:t>
            </a:r>
          </a:p>
          <a:p>
            <a:r>
              <a:rPr lang="ko-KR" altLang="en-US" sz="1600" b="1" dirty="0"/>
              <a:t>공간 대비 인원 밀도 </a:t>
            </a:r>
            <a:r>
              <a:rPr lang="en-US" altLang="ko-KR" sz="1600" b="1" dirty="0"/>
              <a:t>+ </a:t>
            </a:r>
            <a:r>
              <a:rPr lang="ko-KR" altLang="en-US" sz="1600" b="1" dirty="0"/>
              <a:t>이동 가능성 </a:t>
            </a:r>
            <a:r>
              <a:rPr lang="en-US" altLang="ko-KR" sz="1600" b="1" dirty="0"/>
              <a:t>+ </a:t>
            </a:r>
            <a:r>
              <a:rPr lang="ko-KR" altLang="en-US" sz="1600" b="1" dirty="0"/>
              <a:t>병목 위험 </a:t>
            </a:r>
            <a:r>
              <a:rPr lang="en-US" altLang="ko-KR" sz="1600" b="1" dirty="0"/>
              <a:t>+ </a:t>
            </a:r>
            <a:r>
              <a:rPr lang="ko-KR" altLang="en-US" sz="1600" b="1" dirty="0"/>
              <a:t>안전 여유를 종합한 지표입니다</a:t>
            </a:r>
            <a:r>
              <a:rPr lang="en-US" altLang="ko-KR" sz="1600" b="1" dirty="0"/>
              <a:t>.</a:t>
            </a:r>
          </a:p>
          <a:p>
            <a:r>
              <a:rPr lang="ko-KR" altLang="en-US" sz="1600" b="1" dirty="0"/>
              <a:t>그래서 보통 단일 공식이 아니라</a:t>
            </a:r>
            <a:r>
              <a:rPr lang="en-US" altLang="ko-KR" sz="1600" b="1" dirty="0"/>
              <a:t>, </a:t>
            </a:r>
            <a:r>
              <a:rPr lang="ko-KR" altLang="en-US" sz="1600" b="1" dirty="0" err="1"/>
              <a:t>가중합</a:t>
            </a:r>
            <a:r>
              <a:rPr lang="ko-KR" altLang="en-US" sz="1600" b="1" dirty="0"/>
              <a:t> 공식을 사용합니다</a:t>
            </a:r>
            <a:r>
              <a:rPr lang="en-US" altLang="ko-KR" sz="1600" b="1" dirty="0"/>
              <a:t>.</a:t>
            </a:r>
            <a:br>
              <a:rPr lang="en-US" altLang="ko-KR" sz="1600" b="1" dirty="0"/>
            </a:br>
            <a:endParaRPr lang="en-US" altLang="ko-KR" sz="1600" b="1" dirty="0"/>
          </a:p>
          <a:p>
            <a:r>
              <a:rPr lang="en-US" altLang="ko-KR" sz="1600" b="1" dirty="0"/>
              <a:t>2).</a:t>
            </a:r>
            <a:r>
              <a:rPr lang="ko-KR" altLang="en-US" sz="1600" b="1" dirty="0"/>
              <a:t>혼잡도 점수 </a:t>
            </a:r>
            <a:r>
              <a:rPr lang="en-US" altLang="ko-KR" sz="1600" b="1" dirty="0"/>
              <a:t>=   (</a:t>
            </a:r>
            <a:r>
              <a:rPr lang="ko-KR" altLang="en-US" sz="1600" b="1" dirty="0"/>
              <a:t>인원 밀도 지수 </a:t>
            </a:r>
            <a:r>
              <a:rPr lang="en-US" altLang="ko-KR" sz="1600" b="1" dirty="0"/>
              <a:t>× w1)+ (</a:t>
            </a:r>
            <a:r>
              <a:rPr lang="ko-KR" altLang="en-US" sz="1600" b="1" dirty="0"/>
              <a:t>통로 병목 지수 </a:t>
            </a:r>
            <a:r>
              <a:rPr lang="en-US" altLang="ko-KR" sz="1600" b="1" dirty="0"/>
              <a:t>× w2)+ (</a:t>
            </a:r>
            <a:r>
              <a:rPr lang="ko-KR" altLang="en-US" sz="1600" b="1" dirty="0"/>
              <a:t>비상구 위험 지수 </a:t>
            </a:r>
            <a:r>
              <a:rPr lang="en-US" altLang="ko-KR" sz="1600" b="1" dirty="0"/>
              <a:t>× w3)+ (</a:t>
            </a:r>
            <a:r>
              <a:rPr lang="ko-KR" altLang="en-US" sz="1600" b="1" dirty="0"/>
              <a:t>이동성 저하 지수 </a:t>
            </a:r>
            <a:r>
              <a:rPr lang="en-US" altLang="ko-KR" sz="1600" b="1" dirty="0"/>
              <a:t>× w4)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2-1).</a:t>
            </a:r>
            <a:r>
              <a:rPr lang="ko-KR" altLang="en-US" sz="1600" b="1" dirty="0"/>
              <a:t>인원 밀도 지수 </a:t>
            </a:r>
            <a:r>
              <a:rPr lang="en-US" altLang="ko-KR" sz="1600" b="1" dirty="0"/>
              <a:t>(Density Index)  =&gt;</a:t>
            </a:r>
            <a:r>
              <a:rPr lang="ko-KR" altLang="en-US" sz="1600" b="1" dirty="0"/>
              <a:t>인원 밀도 </a:t>
            </a:r>
            <a:r>
              <a:rPr lang="en-US" altLang="ko-KR" sz="1600" b="1" dirty="0"/>
              <a:t>= </a:t>
            </a:r>
            <a:r>
              <a:rPr lang="ko-KR" altLang="en-US" sz="1600" b="1" dirty="0"/>
              <a:t>현재 인원 </a:t>
            </a:r>
            <a:r>
              <a:rPr lang="en-US" altLang="ko-KR" sz="1600" b="1" dirty="0"/>
              <a:t>÷ </a:t>
            </a:r>
            <a:r>
              <a:rPr lang="ko-KR" altLang="en-US" sz="1600" b="1" dirty="0"/>
              <a:t>실제 사용 면적</a:t>
            </a:r>
            <a:r>
              <a:rPr lang="en-US" altLang="ko-KR" sz="1600" b="1" dirty="0"/>
              <a:t>(㎡),</a:t>
            </a:r>
            <a:r>
              <a:rPr lang="ko-KR" altLang="en-US" sz="1600" b="1" dirty="0"/>
              <a:t>밀도 지수 </a:t>
            </a:r>
            <a:r>
              <a:rPr lang="en-US" altLang="ko-KR" sz="1600" b="1" dirty="0"/>
              <a:t>= (</a:t>
            </a:r>
            <a:r>
              <a:rPr lang="ko-KR" altLang="en-US" sz="1600" b="1" dirty="0"/>
              <a:t>인원 밀도 </a:t>
            </a:r>
            <a:r>
              <a:rPr lang="en-US" altLang="ko-KR" sz="1600" b="1" dirty="0"/>
              <a:t>÷ </a:t>
            </a:r>
            <a:r>
              <a:rPr lang="ko-KR" altLang="en-US" sz="1600" b="1" dirty="0"/>
              <a:t>기준 밀도</a:t>
            </a:r>
            <a:r>
              <a:rPr lang="en-US" altLang="ko-KR" sz="1600" b="1" dirty="0"/>
              <a:t>) × 100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2-2). </a:t>
            </a:r>
            <a:r>
              <a:rPr lang="ko-KR" altLang="en-US" sz="1600" b="1" dirty="0"/>
              <a:t>통로 병목 지수 </a:t>
            </a:r>
            <a:r>
              <a:rPr lang="en-US" altLang="ko-KR" sz="1600" b="1" dirty="0"/>
              <a:t>(Aisle Bottleneck Index) =&gt; </a:t>
            </a:r>
            <a:r>
              <a:rPr lang="ko-KR" altLang="en-US" sz="1600" b="1" dirty="0"/>
              <a:t>통로 병목 지수 </a:t>
            </a:r>
            <a:r>
              <a:rPr lang="en-US" altLang="ko-KR" sz="1600" b="1" dirty="0"/>
              <a:t>=  (</a:t>
            </a:r>
            <a:r>
              <a:rPr lang="ko-KR" altLang="en-US" sz="1600" b="1" dirty="0"/>
              <a:t>필요 통로 폭 </a:t>
            </a:r>
            <a:r>
              <a:rPr lang="en-US" altLang="ko-KR" sz="1600" b="1" dirty="0"/>
              <a:t>÷ </a:t>
            </a:r>
            <a:r>
              <a:rPr lang="ko-KR" altLang="en-US" sz="1600" b="1" dirty="0"/>
              <a:t>실제 통로 폭</a:t>
            </a:r>
            <a:r>
              <a:rPr lang="en-US" altLang="ko-KR" sz="1600" b="1" dirty="0"/>
              <a:t>) × 100, </a:t>
            </a:r>
            <a:r>
              <a:rPr lang="ko-KR" altLang="en-US" sz="1600" b="1" dirty="0"/>
              <a:t>필요 통로 폭 계산 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필요 통로 폭</a:t>
            </a:r>
            <a:r>
              <a:rPr lang="en-US" altLang="ko-KR" sz="1600" b="1" dirty="0"/>
              <a:t>(m) = (</a:t>
            </a:r>
            <a:r>
              <a:rPr lang="ko-KR" altLang="en-US" sz="1600" b="1" dirty="0"/>
              <a:t>최대 이동 인원 </a:t>
            </a:r>
            <a:r>
              <a:rPr lang="en-US" altLang="ko-KR" sz="1600" b="1" dirty="0"/>
              <a:t>÷ 82)   ※ </a:t>
            </a:r>
            <a:r>
              <a:rPr lang="ko-KR" altLang="en-US" sz="1600" b="1" dirty="0"/>
              <a:t>소방 기준 근사치</a:t>
            </a:r>
          </a:p>
          <a:p>
            <a:endParaRPr lang="ko-KR" altLang="en-US" sz="1600" b="1" dirty="0"/>
          </a:p>
          <a:p>
            <a:r>
              <a:rPr lang="en-US" altLang="ko-KR" sz="1600" b="1" dirty="0"/>
              <a:t>2-3).</a:t>
            </a:r>
            <a:r>
              <a:rPr lang="ko-KR" altLang="en-US" sz="1600" b="1" dirty="0"/>
              <a:t>비상구 위험 지수 </a:t>
            </a:r>
            <a:r>
              <a:rPr lang="en-US" altLang="ko-KR" sz="1600" b="1" dirty="0"/>
              <a:t>(Exit Risk Index) =&gt; </a:t>
            </a:r>
            <a:r>
              <a:rPr lang="ko-KR" altLang="en-US" sz="1600" b="1" dirty="0"/>
              <a:t>비상구 위험 지수 </a:t>
            </a:r>
            <a:r>
              <a:rPr lang="en-US" altLang="ko-KR" sz="1600" b="1" dirty="0"/>
              <a:t>=  (</a:t>
            </a:r>
            <a:r>
              <a:rPr lang="ko-KR" altLang="en-US" sz="1600" b="1" dirty="0"/>
              <a:t>현재 인원 </a:t>
            </a:r>
            <a:r>
              <a:rPr lang="en-US" altLang="ko-KR" sz="1600" b="1" dirty="0"/>
              <a:t>÷ </a:t>
            </a:r>
            <a:r>
              <a:rPr lang="ko-KR" altLang="en-US" sz="1600" b="1" dirty="0"/>
              <a:t>비상구 처리 가능 인원</a:t>
            </a:r>
            <a:r>
              <a:rPr lang="en-US" altLang="ko-KR" sz="1600" b="1" dirty="0"/>
              <a:t>) × 100</a:t>
            </a:r>
          </a:p>
          <a:p>
            <a:endParaRPr lang="ko-KR" altLang="en-US" sz="1600" b="1" dirty="0"/>
          </a:p>
          <a:p>
            <a:r>
              <a:rPr lang="en-US" altLang="ko-KR" sz="1600" b="1" dirty="0"/>
              <a:t>2-4).</a:t>
            </a:r>
            <a:r>
              <a:rPr lang="ko-KR" altLang="en-US" sz="1600" b="1" dirty="0"/>
              <a:t>이동성 저하 지수 </a:t>
            </a:r>
            <a:r>
              <a:rPr lang="en-US" altLang="ko-KR" sz="1600" b="1" dirty="0"/>
              <a:t>(Mobility Index) =&gt; </a:t>
            </a:r>
            <a:r>
              <a:rPr lang="ko-KR" altLang="en-US" sz="1600" b="1" dirty="0"/>
              <a:t>이동성 지수 </a:t>
            </a:r>
            <a:r>
              <a:rPr lang="en-US" altLang="ko-KR" sz="1600" b="1" dirty="0"/>
              <a:t>=   (</a:t>
            </a:r>
            <a:r>
              <a:rPr lang="ko-KR" altLang="en-US" sz="1600" b="1" dirty="0"/>
              <a:t>정체 구간 수 </a:t>
            </a:r>
            <a:r>
              <a:rPr lang="en-US" altLang="ko-KR" sz="1600" b="1" dirty="0"/>
              <a:t>× 0.4)+ (</a:t>
            </a:r>
            <a:r>
              <a:rPr lang="ko-KR" altLang="en-US" sz="1600" b="1" dirty="0"/>
              <a:t>장애물 수 </a:t>
            </a:r>
            <a:r>
              <a:rPr lang="en-US" altLang="ko-KR" sz="1600" b="1" dirty="0"/>
              <a:t>× 0.3)+ (</a:t>
            </a:r>
            <a:r>
              <a:rPr lang="ko-KR" altLang="en-US" sz="1600" b="1" dirty="0"/>
              <a:t>동선 교차 지수 </a:t>
            </a:r>
            <a:r>
              <a:rPr lang="en-US" altLang="ko-KR" sz="1600" b="1" dirty="0"/>
              <a:t>× 0.3)</a:t>
            </a:r>
          </a:p>
          <a:p>
            <a:endParaRPr lang="en-US" altLang="ko-KR" sz="800" dirty="0"/>
          </a:p>
        </p:txBody>
      </p:sp>
    </p:spTree>
    <p:extLst>
      <p:ext uri="{BB962C8B-B14F-4D97-AF65-F5344CB8AC3E}">
        <p14:creationId xmlns:p14="http://schemas.microsoft.com/office/powerpoint/2010/main" val="1297033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FA95F-B2FA-FE28-210E-CB09F5237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E0B40FD-2515-D97A-F8EE-D9F9725DA4A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4D5A616-AC13-1FDA-52F8-F28FC405ED5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06C644D-1048-F029-62AA-CE5B248796CF}"/>
              </a:ext>
            </a:extLst>
          </p:cNvPr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209866C-C978-AE3E-7333-72D9B889A5C9}"/>
              </a:ext>
            </a:extLst>
          </p:cNvPr>
          <p:cNvSpPr txBox="1"/>
          <p:nvPr/>
        </p:nvSpPr>
        <p:spPr>
          <a:xfrm>
            <a:off x="457200" y="1295705"/>
            <a:ext cx="4553712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정보만 입력하면 안전 기준 가이드가 즉시 제시됩니다</a:t>
            </a:r>
            <a:endParaRPr lang="en-US" sz="1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6E1CCDF-2F97-D51D-FB48-63CC2942B147}"/>
              </a:ext>
            </a:extLst>
          </p:cNvPr>
          <p:cNvSpPr txBox="1"/>
          <p:nvPr/>
        </p:nvSpPr>
        <p:spPr>
          <a:xfrm>
            <a:off x="457200" y="2085746"/>
            <a:ext cx="462046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행사명, 면적, 유형을 선택하는 즉시 해당 유형에 맞는 법적/권장 면적 기준을 안내하여 초기 기획 단계의 오류를 방지합니다.</a:t>
            </a:r>
            <a:endParaRPr lang="en-US" sz="1200" dirty="0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A72F6207-AC8E-904C-E3CE-DFC3DDADB0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457200" y="2838298"/>
            <a:ext cx="133502" cy="152705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6C03FA45-BB94-B92B-BE0E-62B535E0512A}"/>
              </a:ext>
            </a:extLst>
          </p:cNvPr>
          <p:cNvSpPr txBox="1"/>
          <p:nvPr/>
        </p:nvSpPr>
        <p:spPr>
          <a:xfrm>
            <a:off x="705002" y="2800807"/>
            <a:ext cx="1696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행사명 및 전체 면적 입력</a:t>
            </a:r>
            <a:endParaRPr lang="en-US" sz="120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4B1E10B5-5F22-2722-008F-A9FB6D0835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457200" y="3181198"/>
            <a:ext cx="133502" cy="152705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2B0D9DBA-9764-B999-E5F8-739E3722AB39}"/>
              </a:ext>
            </a:extLst>
          </p:cNvPr>
          <p:cNvSpPr txBox="1"/>
          <p:nvPr/>
        </p:nvSpPr>
        <p:spPr>
          <a:xfrm>
            <a:off x="705001" y="3143707"/>
            <a:ext cx="3146451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행사 유형 선택 (스탠딩/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연회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극장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교실형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)</a:t>
            </a:r>
            <a:endParaRPr lang="en-US" sz="1200" dirty="0"/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A1AEFC59-109C-7229-F41F-618FD87D5B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457200" y="3524098"/>
            <a:ext cx="133502" cy="152705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453A5D85-F527-5ADA-EF1F-8E61B30F0BBD}"/>
              </a:ext>
            </a:extLst>
          </p:cNvPr>
          <p:cNvSpPr txBox="1"/>
          <p:nvPr/>
        </p:nvSpPr>
        <p:spPr>
          <a:xfrm>
            <a:off x="705002" y="3486607"/>
            <a:ext cx="2238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유형별 1인당 소요 면적 자동 계산</a:t>
            </a:r>
            <a:endParaRPr lang="en-US" sz="1200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892724F9-F250-5A8D-11EF-0FDB4314C07B}"/>
              </a:ext>
            </a:extLst>
          </p:cNvPr>
          <p:cNvSpPr/>
          <p:nvPr/>
        </p:nvSpPr>
        <p:spPr>
          <a:xfrm>
            <a:off x="457200" y="4324198"/>
            <a:ext cx="4543654" cy="2095805"/>
          </a:xfrm>
          <a:prstGeom prst="roundRect">
            <a:avLst>
              <a:gd name="adj" fmla="val 238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1E0CFAE2-9F5F-00B7-F422-C44893FBAFC5}"/>
              </a:ext>
            </a:extLst>
          </p:cNvPr>
          <p:cNvSpPr txBox="1"/>
          <p:nvPr/>
        </p:nvSpPr>
        <p:spPr>
          <a:xfrm>
            <a:off x="647395" y="4515307"/>
            <a:ext cx="14054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유형별 면적 기준 예시</a:t>
            </a:r>
            <a:endParaRPr lang="en-US" sz="1000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53677D7C-21C0-6BA0-D7F5-BCD806F86098}"/>
              </a:ext>
            </a:extLst>
          </p:cNvPr>
          <p:cNvSpPr/>
          <p:nvPr/>
        </p:nvSpPr>
        <p:spPr>
          <a:xfrm>
            <a:off x="647395" y="4819802"/>
            <a:ext cx="2029054" cy="647395"/>
          </a:xfrm>
          <a:prstGeom prst="roundRect">
            <a:avLst>
              <a:gd name="adj" fmla="val 1661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6AFC3C41-C0F1-64DC-4516-DAD178735ADE}"/>
              </a:ext>
            </a:extLst>
          </p:cNvPr>
          <p:cNvSpPr/>
          <p:nvPr/>
        </p:nvSpPr>
        <p:spPr>
          <a:xfrm>
            <a:off x="647395" y="4819802"/>
            <a:ext cx="38405" cy="64739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47A12844-D654-AB64-5C40-53933B76BBF7}"/>
              </a:ext>
            </a:extLst>
          </p:cNvPr>
          <p:cNvSpPr txBox="1"/>
          <p:nvPr/>
        </p:nvSpPr>
        <p:spPr>
          <a:xfrm>
            <a:off x="800100" y="4924044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스탠딩</a:t>
            </a:r>
            <a:endParaRPr lang="en-US" sz="9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EA145C33-3B63-F0A3-FA65-06EC3A3AA694}"/>
              </a:ext>
            </a:extLst>
          </p:cNvPr>
          <p:cNvSpPr txBox="1"/>
          <p:nvPr/>
        </p:nvSpPr>
        <p:spPr>
          <a:xfrm>
            <a:off x="800100" y="512429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1인당 0.5㎡</a:t>
            </a:r>
            <a:endParaRPr lang="en-US" sz="1200" dirty="0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CED92F79-2748-174C-ADEE-1C14B42C1A94}"/>
              </a:ext>
            </a:extLst>
          </p:cNvPr>
          <p:cNvSpPr/>
          <p:nvPr/>
        </p:nvSpPr>
        <p:spPr>
          <a:xfrm>
            <a:off x="2784348" y="4819802"/>
            <a:ext cx="2029054" cy="647395"/>
          </a:xfrm>
          <a:prstGeom prst="roundRect">
            <a:avLst>
              <a:gd name="adj" fmla="val 1661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8DC6C7D0-0323-F84E-56E3-7E6A489038DD}"/>
              </a:ext>
            </a:extLst>
          </p:cNvPr>
          <p:cNvSpPr/>
          <p:nvPr/>
        </p:nvSpPr>
        <p:spPr>
          <a:xfrm>
            <a:off x="2784348" y="4819802"/>
            <a:ext cx="38405" cy="64739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AB500368-E962-C806-EE54-1795151DB346}"/>
              </a:ext>
            </a:extLst>
          </p:cNvPr>
          <p:cNvSpPr txBox="1"/>
          <p:nvPr/>
        </p:nvSpPr>
        <p:spPr>
          <a:xfrm>
            <a:off x="2937053" y="4924044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극장형</a:t>
            </a:r>
            <a:endParaRPr lang="en-US" sz="9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0D485396-20F8-CE47-8963-AD7BB486BCDD}"/>
              </a:ext>
            </a:extLst>
          </p:cNvPr>
          <p:cNvSpPr txBox="1"/>
          <p:nvPr/>
        </p:nvSpPr>
        <p:spPr>
          <a:xfrm>
            <a:off x="2937053" y="5124298"/>
            <a:ext cx="132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1인당 0.65~1.0㎡</a:t>
            </a:r>
            <a:endParaRPr lang="en-US" sz="1200" dirty="0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50A38CDC-1749-76CF-8E1A-AEF629B07BC3}"/>
              </a:ext>
            </a:extLst>
          </p:cNvPr>
          <p:cNvSpPr/>
          <p:nvPr/>
        </p:nvSpPr>
        <p:spPr>
          <a:xfrm>
            <a:off x="647395" y="5581498"/>
            <a:ext cx="2029054" cy="647395"/>
          </a:xfrm>
          <a:prstGeom prst="roundRect">
            <a:avLst>
              <a:gd name="adj" fmla="val 1661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26B5AA56-FF5F-4719-A3AF-C1DF82D41AAA}"/>
              </a:ext>
            </a:extLst>
          </p:cNvPr>
          <p:cNvSpPr/>
          <p:nvPr/>
        </p:nvSpPr>
        <p:spPr>
          <a:xfrm>
            <a:off x="647395" y="5581498"/>
            <a:ext cx="38405" cy="64739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EBAC97F6-86A2-E955-A8EE-560D0124057B}"/>
              </a:ext>
            </a:extLst>
          </p:cNvPr>
          <p:cNvSpPr txBox="1"/>
          <p:nvPr/>
        </p:nvSpPr>
        <p:spPr>
          <a:xfrm>
            <a:off x="800100" y="5686654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연회형</a:t>
            </a:r>
            <a:endParaRPr lang="en-US" sz="90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4F371DC6-D547-4175-58A6-5F94AD2801D3}"/>
              </a:ext>
            </a:extLst>
          </p:cNvPr>
          <p:cNvSpPr txBox="1"/>
          <p:nvPr/>
        </p:nvSpPr>
        <p:spPr>
          <a:xfrm>
            <a:off x="800100" y="5886907"/>
            <a:ext cx="1239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1인당 1.3~1.9㎡</a:t>
            </a:r>
            <a:endParaRPr lang="en-US" sz="1200" dirty="0"/>
          </a:p>
        </p:txBody>
      </p:sp>
      <p:sp>
        <p:nvSpPr>
          <p:cNvPr id="28" name="Shape 23">
            <a:extLst>
              <a:ext uri="{FF2B5EF4-FFF2-40B4-BE49-F238E27FC236}">
                <a16:creationId xmlns:a16="http://schemas.microsoft.com/office/drawing/2014/main" id="{6CF5EAD5-DF62-2E77-289F-D64DF2557A6D}"/>
              </a:ext>
            </a:extLst>
          </p:cNvPr>
          <p:cNvSpPr/>
          <p:nvPr/>
        </p:nvSpPr>
        <p:spPr>
          <a:xfrm>
            <a:off x="2784348" y="5581498"/>
            <a:ext cx="2029054" cy="647395"/>
          </a:xfrm>
          <a:prstGeom prst="roundRect">
            <a:avLst>
              <a:gd name="adj" fmla="val 1661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69FD42A6-BC08-D95A-497C-077314F50ED9}"/>
              </a:ext>
            </a:extLst>
          </p:cNvPr>
          <p:cNvSpPr/>
          <p:nvPr/>
        </p:nvSpPr>
        <p:spPr>
          <a:xfrm>
            <a:off x="2784348" y="5581498"/>
            <a:ext cx="38405" cy="64739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05DD765C-A169-1026-E379-9E4A640B3868}"/>
              </a:ext>
            </a:extLst>
          </p:cNvPr>
          <p:cNvSpPr txBox="1"/>
          <p:nvPr/>
        </p:nvSpPr>
        <p:spPr>
          <a:xfrm>
            <a:off x="2937053" y="5686654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교실형</a:t>
            </a:r>
            <a:endParaRPr lang="en-US" sz="900" dirty="0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B6F5EB3B-8907-457D-92FA-3D4EA260C04E}"/>
              </a:ext>
            </a:extLst>
          </p:cNvPr>
          <p:cNvSpPr txBox="1"/>
          <p:nvPr/>
        </p:nvSpPr>
        <p:spPr>
          <a:xfrm>
            <a:off x="2937053" y="5886907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1인당 2.0㎡</a:t>
            </a:r>
            <a:endParaRPr lang="en-US" sz="1200" dirty="0"/>
          </a:p>
        </p:txBody>
      </p:sp>
      <p:sp>
        <p:nvSpPr>
          <p:cNvPr id="32" name="Shape 27">
            <a:extLst>
              <a:ext uri="{FF2B5EF4-FFF2-40B4-BE49-F238E27FC236}">
                <a16:creationId xmlns:a16="http://schemas.microsoft.com/office/drawing/2014/main" id="{87643071-B011-F3B8-BBF1-8FC2B8B5D645}"/>
              </a:ext>
            </a:extLst>
          </p:cNvPr>
          <p:cNvSpPr/>
          <p:nvPr/>
        </p:nvSpPr>
        <p:spPr>
          <a:xfrm>
            <a:off x="5378501" y="1333195"/>
            <a:ext cx="6362395" cy="5067605"/>
          </a:xfrm>
          <a:prstGeom prst="roundRect">
            <a:avLst>
              <a:gd name="adj" fmla="val 4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0" dist="1016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3" descr="preencoded.png">
            <a:extLst>
              <a:ext uri="{FF2B5EF4-FFF2-40B4-BE49-F238E27FC236}">
                <a16:creationId xmlns:a16="http://schemas.microsoft.com/office/drawing/2014/main" id="{B9A2C97A-EBE1-2D32-F3CB-D7068EFE13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6" b="46"/>
          <a:stretch/>
        </p:blipFill>
        <p:spPr>
          <a:xfrm>
            <a:off x="5987491" y="1343254"/>
            <a:ext cx="5143500" cy="5048402"/>
          </a:xfrm>
          <a:prstGeom prst="rect">
            <a:avLst/>
          </a:prstGeom>
        </p:spPr>
      </p:pic>
      <p:sp>
        <p:nvSpPr>
          <p:cNvPr id="34" name="Shape 28">
            <a:extLst>
              <a:ext uri="{FF2B5EF4-FFF2-40B4-BE49-F238E27FC236}">
                <a16:creationId xmlns:a16="http://schemas.microsoft.com/office/drawing/2014/main" id="{7D8EB049-F08D-CB27-1095-9A0F99DADC29}"/>
              </a:ext>
            </a:extLst>
          </p:cNvPr>
          <p:cNvSpPr/>
          <p:nvPr/>
        </p:nvSpPr>
        <p:spPr>
          <a:xfrm>
            <a:off x="10334549" y="5848502"/>
            <a:ext cx="1171346" cy="323698"/>
          </a:xfrm>
          <a:prstGeom prst="roundRect">
            <a:avLst>
              <a:gd name="adj" fmla="val 6646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3F4F6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9">
            <a:extLst>
              <a:ext uri="{FF2B5EF4-FFF2-40B4-BE49-F238E27FC236}">
                <a16:creationId xmlns:a16="http://schemas.microsoft.com/office/drawing/2014/main" id="{B25F85AF-07B6-C14F-562A-6BD0101EBD25}"/>
              </a:ext>
            </a:extLst>
          </p:cNvPr>
          <p:cNvSpPr/>
          <p:nvPr/>
        </p:nvSpPr>
        <p:spPr>
          <a:xfrm>
            <a:off x="10496398" y="5971946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10B981">
              <a:alpha val="9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9B9C4137-06A2-1FA8-9411-12C8E9D87CA1}"/>
              </a:ext>
            </a:extLst>
          </p:cNvPr>
          <p:cNvSpPr txBox="1"/>
          <p:nvPr/>
        </p:nvSpPr>
        <p:spPr>
          <a:xfrm>
            <a:off x="10649102" y="5924398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구동 화면</a:t>
            </a:r>
            <a:endParaRPr lang="en-US" sz="900" dirty="0"/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D73277B0-01FC-ACDE-481D-AF804170291E}"/>
              </a:ext>
            </a:extLst>
          </p:cNvPr>
          <p:cNvSpPr/>
          <p:nvPr/>
        </p:nvSpPr>
        <p:spPr>
          <a:xfrm>
            <a:off x="457200" y="457200"/>
            <a:ext cx="724205" cy="228600"/>
          </a:xfrm>
          <a:prstGeom prst="roundRect">
            <a:avLst>
              <a:gd name="adj" fmla="val 400000"/>
            </a:avLst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E8AD4AE0-0588-C366-3CD6-084230B47288}"/>
              </a:ext>
            </a:extLst>
          </p:cNvPr>
          <p:cNvSpPr txBox="1"/>
          <p:nvPr/>
        </p:nvSpPr>
        <p:spPr>
          <a:xfrm>
            <a:off x="571500" y="485546"/>
            <a:ext cx="581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01</a:t>
            </a:r>
            <a:endParaRPr lang="en-US" sz="900" dirty="0"/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EAB6A9CD-036D-FEB6-8098-419EC16A609E}"/>
              </a:ext>
            </a:extLst>
          </p:cNvPr>
          <p:cNvSpPr txBox="1"/>
          <p:nvPr/>
        </p:nvSpPr>
        <p:spPr>
          <a:xfrm>
            <a:off x="1292962" y="476402"/>
            <a:ext cx="21104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 UI INTRODUCTION</a:t>
            </a:r>
            <a:endParaRPr lang="en-US" sz="1000" dirty="0"/>
          </a:p>
        </p:txBody>
      </p:sp>
      <p:sp>
        <p:nvSpPr>
          <p:cNvPr id="41" name="Text 35">
            <a:extLst>
              <a:ext uri="{FF2B5EF4-FFF2-40B4-BE49-F238E27FC236}">
                <a16:creationId xmlns:a16="http://schemas.microsoft.com/office/drawing/2014/main" id="{D74EC861-65CB-A7DD-C38A-C6832296E0F5}"/>
              </a:ext>
            </a:extLst>
          </p:cNvPr>
          <p:cNvSpPr txBox="1"/>
          <p:nvPr/>
        </p:nvSpPr>
        <p:spPr>
          <a:xfrm>
            <a:off x="457200" y="685800"/>
            <a:ext cx="23436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행사 정보 입력</a:t>
            </a:r>
            <a:endParaRPr lang="en-US" sz="2700" dirty="0"/>
          </a:p>
        </p:txBody>
      </p:sp>
      <p:sp>
        <p:nvSpPr>
          <p:cNvPr id="42" name="Text 36">
            <a:extLst>
              <a:ext uri="{FF2B5EF4-FFF2-40B4-BE49-F238E27FC236}">
                <a16:creationId xmlns:a16="http://schemas.microsoft.com/office/drawing/2014/main" id="{C2FBE7C1-5823-4292-BBAF-1A1BBF315FAC}"/>
              </a:ext>
            </a:extLst>
          </p:cNvPr>
          <p:cNvSpPr txBox="1"/>
          <p:nvPr/>
        </p:nvSpPr>
        <p:spPr>
          <a:xfrm>
            <a:off x="11177626" y="543154"/>
            <a:ext cx="9052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F3F4F6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3600" dirty="0"/>
          </a:p>
        </p:txBody>
      </p:sp>
      <p:pic>
        <p:nvPicPr>
          <p:cNvPr id="44" name="Image 0" descr="preencoded.png">
            <a:extLst>
              <a:ext uri="{FF2B5EF4-FFF2-40B4-BE49-F238E27FC236}">
                <a16:creationId xmlns:a16="http://schemas.microsoft.com/office/drawing/2014/main" id="{BF279C74-0CDA-DB79-9FBB-21AE4AE231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2" b="141"/>
          <a:stretch/>
        </p:blipFill>
        <p:spPr>
          <a:xfrm>
            <a:off x="10652760" y="304495"/>
            <a:ext cx="1238098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87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324051"/>
            <a:ext cx="40105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도면도 </a:t>
            </a:r>
            <a:r>
              <a:rPr lang="en-US" sz="18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</a:t>
            </a: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10초 만에 분석합니다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09598"/>
            <a:ext cx="4657954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Vision 기술을 활용하여 업로드된 행사장 도면의 좌석 배치와 구조를 자동으로 인식합니다. 수동 입력 없이 단 한 번의 클릭으로 분석이 완료됩니다.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457200" y="2809951"/>
            <a:ext cx="133502" cy="152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05002" y="2771546"/>
            <a:ext cx="2296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좌석 배치도 및 레이아웃 자동 인식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457200" y="3152851"/>
            <a:ext cx="133502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5002" y="3114446"/>
            <a:ext cx="2496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도면 내 객체(좌석, 부스 등) 정밀 검출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457200" y="3495751"/>
            <a:ext cx="133502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5002" y="3457346"/>
            <a:ext cx="2486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 분석" 클릭 시 10초 이내 결과 도출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57200" y="4295851"/>
            <a:ext cx="4543654" cy="2095805"/>
          </a:xfrm>
          <a:prstGeom prst="roundRect">
            <a:avLst>
              <a:gd name="adj" fmla="val 238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 txBox="1"/>
          <p:nvPr/>
        </p:nvSpPr>
        <p:spPr>
          <a:xfrm>
            <a:off x="647395" y="4486046"/>
            <a:ext cx="11576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분석 핵심 기능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47395" y="4791456"/>
            <a:ext cx="2029054" cy="647395"/>
          </a:xfrm>
          <a:prstGeom prst="roundRect">
            <a:avLst>
              <a:gd name="adj" fmla="val 1661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647395" y="4791456"/>
            <a:ext cx="38405" cy="64739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 txBox="1"/>
          <p:nvPr/>
        </p:nvSpPr>
        <p:spPr>
          <a:xfrm>
            <a:off x="800100" y="4895698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인식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800100" y="5095951"/>
            <a:ext cx="11622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좌석 &amp; 레이아웃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2784348" y="4791456"/>
            <a:ext cx="2029054" cy="647395"/>
          </a:xfrm>
          <a:prstGeom prst="roundRect">
            <a:avLst>
              <a:gd name="adj" fmla="val 1661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2784348" y="4791456"/>
            <a:ext cx="38405" cy="64739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 txBox="1"/>
          <p:nvPr/>
        </p:nvSpPr>
        <p:spPr>
          <a:xfrm>
            <a:off x="2937053" y="4895698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속도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2937053" y="5095951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</a:t>
            </a: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10초 이내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47395" y="5553151"/>
            <a:ext cx="2029054" cy="647395"/>
          </a:xfrm>
          <a:prstGeom prst="roundRect">
            <a:avLst>
              <a:gd name="adj" fmla="val 1661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647395" y="5553151"/>
            <a:ext cx="38405" cy="64739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 txBox="1"/>
          <p:nvPr/>
        </p:nvSpPr>
        <p:spPr>
          <a:xfrm>
            <a:off x="800100" y="5658307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객체 검출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800100" y="5857646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사물 정밀 식별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2784348" y="5553151"/>
            <a:ext cx="2029054" cy="647395"/>
          </a:xfrm>
          <a:prstGeom prst="roundRect">
            <a:avLst>
              <a:gd name="adj" fmla="val 1661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/>
          <p:cNvSpPr/>
          <p:nvPr/>
        </p:nvSpPr>
        <p:spPr>
          <a:xfrm>
            <a:off x="2784348" y="5553151"/>
            <a:ext cx="38405" cy="64739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 txBox="1"/>
          <p:nvPr/>
        </p:nvSpPr>
        <p:spPr>
          <a:xfrm>
            <a:off x="2937053" y="5658307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도면 지원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2937053" y="5857646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포맷 호환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5378501" y="1333195"/>
            <a:ext cx="6362395" cy="5067605"/>
          </a:xfrm>
          <a:prstGeom prst="roundRect">
            <a:avLst>
              <a:gd name="adj" fmla="val 4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0" dist="1016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4"/>
          <a:srcRect t="83" b="83"/>
          <a:stretch/>
        </p:blipFill>
        <p:spPr>
          <a:xfrm>
            <a:off x="6151169" y="1343254"/>
            <a:ext cx="4819802" cy="5048402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10297058" y="5848502"/>
            <a:ext cx="1209751" cy="323698"/>
          </a:xfrm>
          <a:prstGeom prst="roundRect">
            <a:avLst>
              <a:gd name="adj" fmla="val 6646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3F4F6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9"/>
          <p:cNvSpPr txBox="1"/>
          <p:nvPr/>
        </p:nvSpPr>
        <p:spPr>
          <a:xfrm>
            <a:off x="10611612" y="5924398"/>
            <a:ext cx="819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분석 진행 중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457200" y="457200"/>
            <a:ext cx="724205" cy="228600"/>
          </a:xfrm>
          <a:prstGeom prst="roundRect">
            <a:avLst>
              <a:gd name="adj" fmla="val 400000"/>
            </a:avLst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2"/>
          <p:cNvSpPr txBox="1"/>
          <p:nvPr/>
        </p:nvSpPr>
        <p:spPr>
          <a:xfrm>
            <a:off x="571500" y="485546"/>
            <a:ext cx="581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02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1292962" y="476402"/>
            <a:ext cx="17675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DRAWING ANALYSIS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457200" y="685800"/>
            <a:ext cx="206745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도면 분석</a:t>
            </a:r>
            <a:endParaRPr lang="en-US" sz="2700" dirty="0"/>
          </a:p>
        </p:txBody>
      </p:sp>
      <p:pic>
        <p:nvPicPr>
          <p:cNvPr id="42" name="Image 0" descr="preencoded.png">
            <a:extLst>
              <a:ext uri="{FF2B5EF4-FFF2-40B4-BE49-F238E27FC236}">
                <a16:creationId xmlns:a16="http://schemas.microsoft.com/office/drawing/2014/main" id="{B43A9D5C-02AF-CE22-DFF8-B4AD3A610A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2" b="141"/>
          <a:stretch/>
        </p:blipFill>
        <p:spPr>
          <a:xfrm>
            <a:off x="10652760" y="304495"/>
            <a:ext cx="1238098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301191"/>
            <a:ext cx="4553712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도면의 구성 요소를 객체 단위로 정밀 인식합니다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92147"/>
            <a:ext cx="456285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Vision AI 엔진이 도면 내의 부스, 출입구, 공간 구획(Zone)을 자동으로 식별하고 행사장 전체의 물리적 정보와 특성을 상세하게 추출합니다.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844698"/>
            <a:ext cx="152705" cy="152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24205" y="2806294"/>
            <a:ext cx="2153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부스 및 주요 시설물 자동 카운팅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3187598"/>
            <a:ext cx="152705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4205" y="3149194"/>
            <a:ext cx="2981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Zone별 공간 특성(상담/강연/휴게) 자동 분류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3530498"/>
            <a:ext cx="152705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4205" y="3492094"/>
            <a:ext cx="2019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면적 및 출입구 위치 식별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57200" y="4177894"/>
            <a:ext cx="4543654" cy="2238451"/>
          </a:xfrm>
          <a:prstGeom prst="roundRect">
            <a:avLst>
              <a:gd name="adj" fmla="val 2086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 txBox="1"/>
          <p:nvPr/>
        </p:nvSpPr>
        <p:spPr>
          <a:xfrm>
            <a:off x="647395" y="4387291"/>
            <a:ext cx="11009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분석 데이터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2987345" y="4368089"/>
            <a:ext cx="1828800" cy="228600"/>
          </a:xfrm>
          <a:prstGeom prst="roundRect">
            <a:avLst>
              <a:gd name="adj" fmla="val 6666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3063240" y="4430268"/>
            <a:ext cx="105156" cy="1143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205886" y="4396435"/>
            <a:ext cx="16194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66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Powered by Google Gemini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647395" y="4710989"/>
            <a:ext cx="2029054" cy="68580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647395" y="4710989"/>
            <a:ext cx="38405" cy="685800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 txBox="1"/>
          <p:nvPr/>
        </p:nvSpPr>
        <p:spPr>
          <a:xfrm>
            <a:off x="800100" y="4816145"/>
            <a:ext cx="7242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부스 / 출입구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800100" y="5025542"/>
            <a:ext cx="4910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59개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1160374" y="5073091"/>
            <a:ext cx="3959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3개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2784348" y="4710989"/>
            <a:ext cx="2029054" cy="68580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2784348" y="4710989"/>
            <a:ext cx="38405" cy="685800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 txBox="1"/>
          <p:nvPr/>
        </p:nvSpPr>
        <p:spPr>
          <a:xfrm>
            <a:off x="2937053" y="4816145"/>
            <a:ext cx="8668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추정 면적 (크기)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2937053" y="5025542"/>
            <a:ext cx="7671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1,980㎡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3568903" y="5073091"/>
            <a:ext cx="6812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(60x33m)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647395" y="5511089"/>
            <a:ext cx="4162349" cy="714146"/>
          </a:xfrm>
          <a:prstGeom prst="roundRect">
            <a:avLst>
              <a:gd name="adj" fmla="val 1365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4"/>
          <p:cNvSpPr txBox="1"/>
          <p:nvPr/>
        </p:nvSpPr>
        <p:spPr>
          <a:xfrm>
            <a:off x="771754" y="5625389"/>
            <a:ext cx="11722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식별된 구역 (4 Zones)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771754" y="5864047"/>
            <a:ext cx="1133856" cy="200254"/>
          </a:xfrm>
          <a:prstGeom prst="roundRect">
            <a:avLst>
              <a:gd name="adj" fmla="val 86975"/>
            </a:avLst>
          </a:prstGeom>
          <a:solidFill>
            <a:srgbClr val="FFE0D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6"/>
          <p:cNvSpPr txBox="1"/>
          <p:nvPr/>
        </p:nvSpPr>
        <p:spPr>
          <a:xfrm>
            <a:off x="847649" y="5882335"/>
            <a:ext cx="10616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66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Business Matching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1935785" y="5864047"/>
            <a:ext cx="1067105" cy="200254"/>
          </a:xfrm>
          <a:prstGeom prst="roundRect">
            <a:avLst>
              <a:gd name="adj" fmla="val 86975"/>
            </a:avLst>
          </a:prstGeom>
          <a:solidFill>
            <a:srgbClr val="FFE0D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8"/>
          <p:cNvSpPr txBox="1"/>
          <p:nvPr/>
        </p:nvSpPr>
        <p:spPr>
          <a:xfrm>
            <a:off x="2011680" y="5882335"/>
            <a:ext cx="9948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66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Conference Stage</a:t>
            </a:r>
            <a:endParaRPr lang="en-US" sz="800" dirty="0"/>
          </a:p>
        </p:txBody>
      </p:sp>
      <p:sp>
        <p:nvSpPr>
          <p:cNvPr id="35" name="Shape 29"/>
          <p:cNvSpPr/>
          <p:nvPr/>
        </p:nvSpPr>
        <p:spPr>
          <a:xfrm>
            <a:off x="3039466" y="5864047"/>
            <a:ext cx="857707" cy="200254"/>
          </a:xfrm>
          <a:prstGeom prst="roundRect">
            <a:avLst>
              <a:gd name="adj" fmla="val 86975"/>
            </a:avLst>
          </a:prstGeom>
          <a:solidFill>
            <a:srgbClr val="FFE0D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0"/>
          <p:cNvSpPr txBox="1"/>
          <p:nvPr/>
        </p:nvSpPr>
        <p:spPr>
          <a:xfrm>
            <a:off x="3116275" y="5882335"/>
            <a:ext cx="78547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66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 Lounge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>
            <a:off x="5378501" y="1333195"/>
            <a:ext cx="6362395" cy="5067605"/>
          </a:xfrm>
          <a:prstGeom prst="roundRect">
            <a:avLst>
              <a:gd name="adj" fmla="val 814"/>
            </a:avLst>
          </a:prstGeom>
          <a:solidFill>
            <a:srgbClr val="EFF6FF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2"/>
          <p:cNvSpPr/>
          <p:nvPr/>
        </p:nvSpPr>
        <p:spPr>
          <a:xfrm>
            <a:off x="5378501" y="1333195"/>
            <a:ext cx="6362395" cy="5067605"/>
          </a:xfrm>
          <a:prstGeom prst="roundRect">
            <a:avLst>
              <a:gd name="adj" fmla="val 4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0" dist="1016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5"/>
          <a:srcRect t="93" b="93"/>
          <a:stretch/>
        </p:blipFill>
        <p:spPr>
          <a:xfrm>
            <a:off x="6764731" y="1343254"/>
            <a:ext cx="3590849" cy="5048402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5540350" y="1495044"/>
            <a:ext cx="1552651" cy="267005"/>
          </a:xfrm>
          <a:prstGeom prst="roundRect">
            <a:avLst>
              <a:gd name="adj" fmla="val 48924"/>
            </a:avLst>
          </a:prstGeom>
          <a:solidFill>
            <a:srgbClr val="111827">
              <a:alpha val="80000"/>
            </a:srgbClr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4"/>
          <p:cNvSpPr/>
          <p:nvPr/>
        </p:nvSpPr>
        <p:spPr>
          <a:xfrm>
            <a:off x="5654650" y="1591056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4D399">
              <a:alpha val="9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5"/>
          <p:cNvSpPr txBox="1"/>
          <p:nvPr/>
        </p:nvSpPr>
        <p:spPr>
          <a:xfrm>
            <a:off x="5807354" y="1552651"/>
            <a:ext cx="12573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Analysis Complete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457200" y="457200"/>
            <a:ext cx="724205" cy="228600"/>
          </a:xfrm>
          <a:prstGeom prst="roundRect">
            <a:avLst>
              <a:gd name="adj" fmla="val 400000"/>
            </a:avLst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8"/>
          <p:cNvSpPr txBox="1"/>
          <p:nvPr/>
        </p:nvSpPr>
        <p:spPr>
          <a:xfrm>
            <a:off x="571500" y="485546"/>
            <a:ext cx="581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03</a:t>
            </a:r>
            <a:endParaRPr lang="en-US" sz="900" dirty="0"/>
          </a:p>
        </p:txBody>
      </p:sp>
      <p:sp>
        <p:nvSpPr>
          <p:cNvPr id="46" name="Text 39"/>
          <p:cNvSpPr txBox="1"/>
          <p:nvPr/>
        </p:nvSpPr>
        <p:spPr>
          <a:xfrm>
            <a:off x="1292962" y="476402"/>
            <a:ext cx="14621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ANALYSIS REPORT</a:t>
            </a:r>
            <a:endParaRPr lang="en-US" sz="1000" dirty="0"/>
          </a:p>
        </p:txBody>
      </p:sp>
      <p:sp>
        <p:nvSpPr>
          <p:cNvPr id="47" name="Text 40"/>
          <p:cNvSpPr txBox="1"/>
          <p:nvPr/>
        </p:nvSpPr>
        <p:spPr>
          <a:xfrm>
            <a:off x="457200" y="685800"/>
            <a:ext cx="206745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분석 결과</a:t>
            </a:r>
            <a:endParaRPr lang="en-US" sz="2700" dirty="0"/>
          </a:p>
        </p:txBody>
      </p:sp>
      <p:sp>
        <p:nvSpPr>
          <p:cNvPr id="49" name="Shape 42"/>
          <p:cNvSpPr/>
          <p:nvPr/>
        </p:nvSpPr>
        <p:spPr>
          <a:xfrm>
            <a:off x="9276588" y="5982005"/>
            <a:ext cx="2085746" cy="495605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3"/>
          <p:cNvSpPr/>
          <p:nvPr/>
        </p:nvSpPr>
        <p:spPr>
          <a:xfrm>
            <a:off x="9276588" y="5982005"/>
            <a:ext cx="38405" cy="49560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4"/>
          <p:cNvSpPr txBox="1"/>
          <p:nvPr/>
        </p:nvSpPr>
        <p:spPr>
          <a:xfrm>
            <a:off x="9467698" y="6048756"/>
            <a:ext cx="819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DETECTED</a:t>
            </a:r>
            <a:endParaRPr lang="en-US" sz="900" dirty="0"/>
          </a:p>
        </p:txBody>
      </p:sp>
      <p:sp>
        <p:nvSpPr>
          <p:cNvPr id="52" name="Text 45"/>
          <p:cNvSpPr txBox="1"/>
          <p:nvPr/>
        </p:nvSpPr>
        <p:spPr>
          <a:xfrm>
            <a:off x="9467698" y="6210605"/>
            <a:ext cx="1843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Zone 1 ~ 4 &amp; Booth Layout</a:t>
            </a:r>
            <a:endParaRPr lang="en-US" sz="1000" dirty="0"/>
          </a:p>
        </p:txBody>
      </p:sp>
      <p:pic>
        <p:nvPicPr>
          <p:cNvPr id="54" name="Image 0" descr="preencoded.png">
            <a:extLst>
              <a:ext uri="{FF2B5EF4-FFF2-40B4-BE49-F238E27FC236}">
                <a16:creationId xmlns:a16="http://schemas.microsoft.com/office/drawing/2014/main" id="{3B00F41F-B339-22DE-526D-4167FEB0C6D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42" b="141"/>
          <a:stretch/>
        </p:blipFill>
        <p:spPr>
          <a:xfrm>
            <a:off x="10652760" y="304495"/>
            <a:ext cx="1238098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390802"/>
            <a:ext cx="4553712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수용인원이 아닌 안전 등급별 기준을 제시합니다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04949"/>
            <a:ext cx="4596689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공간의 크기뿐만 아니라 비상구 처리량과 혼잡도를 분석하여 5단계 안전 등급별 적정 인원을 산출합니다.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757830"/>
            <a:ext cx="2200046" cy="838505"/>
          </a:xfrm>
          <a:prstGeom prst="roundRect">
            <a:avLst>
              <a:gd name="adj" fmla="val 991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2757830"/>
            <a:ext cx="38405" cy="83850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47395" y="2900477"/>
            <a:ext cx="1552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권장 인원 (RECOMMENDED)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47395" y="3062326"/>
            <a:ext cx="73883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825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207922" y="3243377"/>
            <a:ext cx="2240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03550" y="2757830"/>
            <a:ext cx="2200046" cy="838505"/>
          </a:xfrm>
          <a:prstGeom prst="roundRect">
            <a:avLst>
              <a:gd name="adj" fmla="val 991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803550" y="2757830"/>
            <a:ext cx="38405" cy="83850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2993746" y="2900477"/>
            <a:ext cx="12198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 인원 (MAXIMUM)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993746" y="3062326"/>
            <a:ext cx="10149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2,356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3829507" y="3243377"/>
            <a:ext cx="2240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824021"/>
            <a:ext cx="4543654" cy="2238451"/>
          </a:xfrm>
          <a:prstGeom prst="roundRect">
            <a:avLst>
              <a:gd name="adj" fmla="val 2086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57454" y="4291279"/>
            <a:ext cx="4143146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657454" y="4024274"/>
            <a:ext cx="1614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혼잡도별 수용인원 가이드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7454" y="4509821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809244" y="4453128"/>
            <a:ext cx="348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86154" y="4509821"/>
            <a:ext cx="2391156" cy="75895"/>
          </a:xfrm>
          <a:prstGeom prst="roundRect">
            <a:avLst>
              <a:gd name="adj" fmla="val 602411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686154" y="4509821"/>
            <a:ext cx="599846" cy="75895"/>
          </a:xfrm>
          <a:prstGeom prst="roundRect">
            <a:avLst>
              <a:gd name="adj" fmla="val 602411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4316882" y="4453128"/>
            <a:ext cx="5861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1,009명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7454" y="4815230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84CC1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809244" y="4757623"/>
            <a:ext cx="348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여유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686154" y="4815230"/>
            <a:ext cx="2391156" cy="75895"/>
          </a:xfrm>
          <a:prstGeom prst="roundRect">
            <a:avLst>
              <a:gd name="adj" fmla="val 602411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1686154" y="4815230"/>
            <a:ext cx="1076249" cy="75895"/>
          </a:xfrm>
          <a:prstGeom prst="roundRect">
            <a:avLst>
              <a:gd name="adj" fmla="val 602411"/>
            </a:avLst>
          </a:prstGeom>
          <a:solidFill>
            <a:srgbClr val="84CC1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4316882" y="4757623"/>
            <a:ext cx="5861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1,683명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7454" y="5119726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EAB30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809244" y="5062118"/>
            <a:ext cx="348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온정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686154" y="5119726"/>
            <a:ext cx="2391156" cy="75895"/>
          </a:xfrm>
          <a:prstGeom prst="roundRect">
            <a:avLst>
              <a:gd name="adj" fmla="val 602411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686154" y="5119726"/>
            <a:ext cx="1505102" cy="75895"/>
          </a:xfrm>
          <a:prstGeom prst="roundRect">
            <a:avLst>
              <a:gd name="adj" fmla="val 602411"/>
            </a:avLst>
          </a:prstGeom>
          <a:solidFill>
            <a:srgbClr val="EAB30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4316882" y="5062118"/>
            <a:ext cx="5861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2,356명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57454" y="5424221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809244" y="5367528"/>
            <a:ext cx="348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686154" y="5424221"/>
            <a:ext cx="2391156" cy="75895"/>
          </a:xfrm>
          <a:prstGeom prst="roundRect">
            <a:avLst>
              <a:gd name="adj" fmla="val 602411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686154" y="5424221"/>
            <a:ext cx="1962302" cy="75895"/>
          </a:xfrm>
          <a:prstGeom prst="roundRect">
            <a:avLst>
              <a:gd name="adj" fmla="val 602411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4316882" y="5367528"/>
            <a:ext cx="5861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3,029명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57454" y="5729630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809244" y="5672023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매우위험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686154" y="5729630"/>
            <a:ext cx="2391156" cy="75895"/>
          </a:xfrm>
          <a:prstGeom prst="roundRect">
            <a:avLst>
              <a:gd name="adj" fmla="val 602411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686154" y="5729630"/>
            <a:ext cx="2391156" cy="75895"/>
          </a:xfrm>
          <a:prstGeom prst="roundRect">
            <a:avLst>
              <a:gd name="adj" fmla="val 602411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4316882" y="5672023"/>
            <a:ext cx="5861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3,702명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6215177"/>
            <a:ext cx="4543654" cy="552298"/>
          </a:xfrm>
          <a:prstGeom prst="roundRect">
            <a:avLst>
              <a:gd name="adj" fmla="val 22836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0644" y="6357823"/>
            <a:ext cx="133502" cy="133502"/>
          </a:xfrm>
          <a:prstGeom prst="rect">
            <a:avLst/>
          </a:prstGeom>
        </p:spPr>
      </p:pic>
      <p:sp>
        <p:nvSpPr>
          <p:cNvPr id="48" name="Text 45"/>
          <p:cNvSpPr txBox="1"/>
          <p:nvPr/>
        </p:nvSpPr>
        <p:spPr>
          <a:xfrm>
            <a:off x="790956" y="6329477"/>
            <a:ext cx="389625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주의: 비상구 처리량을 고려하여 최대 인원이 조정되었습니다. (Emergency Exit Limits Applied)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5378501" y="1333195"/>
            <a:ext cx="6362395" cy="5067605"/>
          </a:xfrm>
          <a:prstGeom prst="roundRect">
            <a:avLst>
              <a:gd name="adj" fmla="val 814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7"/>
          <p:cNvSpPr/>
          <p:nvPr/>
        </p:nvSpPr>
        <p:spPr>
          <a:xfrm>
            <a:off x="5378501" y="1333195"/>
            <a:ext cx="6362395" cy="5067605"/>
          </a:xfrm>
          <a:prstGeom prst="roundRect">
            <a:avLst>
              <a:gd name="adj" fmla="val 4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0" dist="1016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1" name="Image 1" descr="preencoded.png"/>
          <p:cNvPicPr>
            <a:picLocks noChangeAspect="1"/>
          </p:cNvPicPr>
          <p:nvPr/>
        </p:nvPicPr>
        <p:blipFill>
          <a:blip r:embed="rId4"/>
          <a:srcRect t="49" b="49"/>
          <a:stretch/>
        </p:blipFill>
        <p:spPr>
          <a:xfrm>
            <a:off x="6177686" y="1343254"/>
            <a:ext cx="4762195" cy="5048402"/>
          </a:xfrm>
          <a:prstGeom prst="rect">
            <a:avLst/>
          </a:prstGeom>
        </p:spPr>
      </p:pic>
      <p:sp>
        <p:nvSpPr>
          <p:cNvPr id="52" name="Shape 48"/>
          <p:cNvSpPr/>
          <p:nvPr/>
        </p:nvSpPr>
        <p:spPr>
          <a:xfrm>
            <a:off x="10610698" y="1485900"/>
            <a:ext cx="972007" cy="476402"/>
          </a:xfrm>
          <a:prstGeom prst="roundRect">
            <a:avLst>
              <a:gd name="adj" fmla="val 307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3F4F6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Text 49"/>
          <p:cNvSpPr txBox="1"/>
          <p:nvPr/>
        </p:nvSpPr>
        <p:spPr>
          <a:xfrm>
            <a:off x="10735056" y="1561795"/>
            <a:ext cx="7150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 Levels</a:t>
            </a:r>
            <a:endParaRPr lang="en-US" sz="900" dirty="0"/>
          </a:p>
        </p:txBody>
      </p:sp>
      <p:sp>
        <p:nvSpPr>
          <p:cNvPr id="54" name="Shape 50"/>
          <p:cNvSpPr/>
          <p:nvPr/>
        </p:nvSpPr>
        <p:spPr>
          <a:xfrm>
            <a:off x="10735056" y="1762049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1"/>
          <p:cNvSpPr/>
          <p:nvPr/>
        </p:nvSpPr>
        <p:spPr>
          <a:xfrm>
            <a:off x="10886846" y="1762049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84CC1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2"/>
          <p:cNvSpPr/>
          <p:nvPr/>
        </p:nvSpPr>
        <p:spPr>
          <a:xfrm>
            <a:off x="11039551" y="1762049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EAB30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3"/>
          <p:cNvSpPr/>
          <p:nvPr/>
        </p:nvSpPr>
        <p:spPr>
          <a:xfrm>
            <a:off x="11192256" y="1762049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4"/>
          <p:cNvSpPr/>
          <p:nvPr/>
        </p:nvSpPr>
        <p:spPr>
          <a:xfrm>
            <a:off x="11344046" y="1762049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6"/>
          <p:cNvSpPr/>
          <p:nvPr/>
        </p:nvSpPr>
        <p:spPr>
          <a:xfrm>
            <a:off x="457200" y="457200"/>
            <a:ext cx="694944" cy="228600"/>
          </a:xfrm>
          <a:prstGeom prst="roundRect">
            <a:avLst>
              <a:gd name="adj" fmla="val 400000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7"/>
          <p:cNvSpPr txBox="1"/>
          <p:nvPr/>
        </p:nvSpPr>
        <p:spPr>
          <a:xfrm>
            <a:off x="571500" y="485546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RESULT</a:t>
            </a:r>
            <a:endParaRPr lang="en-US" sz="900" dirty="0"/>
          </a:p>
        </p:txBody>
      </p:sp>
      <p:sp>
        <p:nvSpPr>
          <p:cNvPr id="62" name="Text 58"/>
          <p:cNvSpPr txBox="1"/>
          <p:nvPr/>
        </p:nvSpPr>
        <p:spPr>
          <a:xfrm>
            <a:off x="1260958" y="476402"/>
            <a:ext cx="1843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CONGESTION ANALYSIS</a:t>
            </a:r>
            <a:endParaRPr lang="en-US" sz="1000" dirty="0"/>
          </a:p>
        </p:txBody>
      </p:sp>
      <p:sp>
        <p:nvSpPr>
          <p:cNvPr id="63" name="Text 59"/>
          <p:cNvSpPr txBox="1"/>
          <p:nvPr/>
        </p:nvSpPr>
        <p:spPr>
          <a:xfrm>
            <a:off x="457200" y="685800"/>
            <a:ext cx="33915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혼잡도 기반 인원 산정</a:t>
            </a:r>
            <a:endParaRPr lang="en-US" sz="2700" dirty="0"/>
          </a:p>
        </p:txBody>
      </p:sp>
      <p:pic>
        <p:nvPicPr>
          <p:cNvPr id="66" name="Image 0" descr="preencoded.png">
            <a:extLst>
              <a:ext uri="{FF2B5EF4-FFF2-40B4-BE49-F238E27FC236}">
                <a16:creationId xmlns:a16="http://schemas.microsoft.com/office/drawing/2014/main" id="{5AEF83D5-BAD6-FBD8-8E84-B3DE6A5EAE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2" b="141"/>
          <a:stretch/>
        </p:blipFill>
        <p:spPr>
          <a:xfrm>
            <a:off x="10652760" y="304495"/>
            <a:ext cx="1238098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50FE6-DEE6-2B25-D265-64E7699AB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5A8CEFC-D898-CC2F-9D4A-23B2E9569B8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8D9C1FA-2E49-B213-4D82-F9189394C92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48246AF-4F07-0FA4-8BD1-45A435F4A699}"/>
              </a:ext>
            </a:extLst>
          </p:cNvPr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7">
            <a:extLst>
              <a:ext uri="{FF2B5EF4-FFF2-40B4-BE49-F238E27FC236}">
                <a16:creationId xmlns:a16="http://schemas.microsoft.com/office/drawing/2014/main" id="{6F83712A-DB94-CFAE-16AD-F030BFBB9B74}"/>
              </a:ext>
            </a:extLst>
          </p:cNvPr>
          <p:cNvSpPr/>
          <p:nvPr/>
        </p:nvSpPr>
        <p:spPr>
          <a:xfrm>
            <a:off x="451104" y="1333196"/>
            <a:ext cx="4925229" cy="4093938"/>
          </a:xfrm>
          <a:prstGeom prst="roundRect">
            <a:avLst>
              <a:gd name="adj" fmla="val 4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0" dist="1016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6">
            <a:extLst>
              <a:ext uri="{FF2B5EF4-FFF2-40B4-BE49-F238E27FC236}">
                <a16:creationId xmlns:a16="http://schemas.microsoft.com/office/drawing/2014/main" id="{52967FF1-A9D4-6591-E352-12D23234F764}"/>
              </a:ext>
            </a:extLst>
          </p:cNvPr>
          <p:cNvSpPr/>
          <p:nvPr/>
        </p:nvSpPr>
        <p:spPr>
          <a:xfrm>
            <a:off x="457200" y="457200"/>
            <a:ext cx="694944" cy="228600"/>
          </a:xfrm>
          <a:prstGeom prst="roundRect">
            <a:avLst>
              <a:gd name="adj" fmla="val 400000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7">
            <a:extLst>
              <a:ext uri="{FF2B5EF4-FFF2-40B4-BE49-F238E27FC236}">
                <a16:creationId xmlns:a16="http://schemas.microsoft.com/office/drawing/2014/main" id="{14223003-DE86-870F-7FD5-D224C35730C0}"/>
              </a:ext>
            </a:extLst>
          </p:cNvPr>
          <p:cNvSpPr txBox="1"/>
          <p:nvPr/>
        </p:nvSpPr>
        <p:spPr>
          <a:xfrm>
            <a:off x="571500" y="485546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RESULT</a:t>
            </a:r>
            <a:endParaRPr lang="en-US" sz="900" dirty="0"/>
          </a:p>
        </p:txBody>
      </p:sp>
      <p:sp>
        <p:nvSpPr>
          <p:cNvPr id="62" name="Text 58">
            <a:extLst>
              <a:ext uri="{FF2B5EF4-FFF2-40B4-BE49-F238E27FC236}">
                <a16:creationId xmlns:a16="http://schemas.microsoft.com/office/drawing/2014/main" id="{397B8977-B5AB-82B0-C0BE-AD45CA92DCF2}"/>
              </a:ext>
            </a:extLst>
          </p:cNvPr>
          <p:cNvSpPr txBox="1"/>
          <p:nvPr/>
        </p:nvSpPr>
        <p:spPr>
          <a:xfrm>
            <a:off x="1260958" y="476402"/>
            <a:ext cx="1843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CONGESTION ANALYSIS</a:t>
            </a:r>
            <a:endParaRPr lang="en-US" sz="1000" dirty="0"/>
          </a:p>
        </p:txBody>
      </p:sp>
      <p:sp>
        <p:nvSpPr>
          <p:cNvPr id="63" name="Text 59">
            <a:extLst>
              <a:ext uri="{FF2B5EF4-FFF2-40B4-BE49-F238E27FC236}">
                <a16:creationId xmlns:a16="http://schemas.microsoft.com/office/drawing/2014/main" id="{19966563-C437-CCAA-FB21-20746BD968A6}"/>
              </a:ext>
            </a:extLst>
          </p:cNvPr>
          <p:cNvSpPr txBox="1"/>
          <p:nvPr/>
        </p:nvSpPr>
        <p:spPr>
          <a:xfrm>
            <a:off x="457200" y="685800"/>
            <a:ext cx="52832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</a:rPr>
              <a:t>추가 기능</a:t>
            </a:r>
            <a:r>
              <a:rPr lang="en-US" altLang="ko-KR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</a:rPr>
              <a:t>- </a:t>
            </a:r>
            <a:r>
              <a:rPr lang="ko-KR" alt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</a:rPr>
              <a:t>실시간 혼잡도 모니터링</a:t>
            </a:r>
            <a:r>
              <a:rPr lang="en-US" altLang="ko-KR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</a:rPr>
              <a:t>1</a:t>
            </a:r>
            <a:endParaRPr lang="en-US" sz="2700" dirty="0"/>
          </a:p>
        </p:txBody>
      </p:sp>
      <p:pic>
        <p:nvPicPr>
          <p:cNvPr id="66" name="Image 0" descr="preencoded.png">
            <a:extLst>
              <a:ext uri="{FF2B5EF4-FFF2-40B4-BE49-F238E27FC236}">
                <a16:creationId xmlns:a16="http://schemas.microsoft.com/office/drawing/2014/main" id="{27C663BC-8D19-9BC8-7976-31F1274CD3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2" b="141"/>
          <a:stretch/>
        </p:blipFill>
        <p:spPr>
          <a:xfrm>
            <a:off x="10652760" y="304495"/>
            <a:ext cx="1238098" cy="571500"/>
          </a:xfrm>
          <a:prstGeom prst="rect">
            <a:avLst/>
          </a:prstGeom>
        </p:spPr>
      </p:pic>
      <p:pic>
        <p:nvPicPr>
          <p:cNvPr id="59" name="그림 58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3BD383-28D1-5C65-8A9F-6F97B2E998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677" y="1430866"/>
            <a:ext cx="4776350" cy="3691467"/>
          </a:xfrm>
          <a:prstGeom prst="rect">
            <a:avLst/>
          </a:prstGeom>
        </p:spPr>
      </p:pic>
      <p:sp>
        <p:nvSpPr>
          <p:cNvPr id="64" name="Shape 47">
            <a:extLst>
              <a:ext uri="{FF2B5EF4-FFF2-40B4-BE49-F238E27FC236}">
                <a16:creationId xmlns:a16="http://schemas.microsoft.com/office/drawing/2014/main" id="{CA2AE6E0-8249-236A-CB4D-07AE4FA29A9F}"/>
              </a:ext>
            </a:extLst>
          </p:cNvPr>
          <p:cNvSpPr/>
          <p:nvPr/>
        </p:nvSpPr>
        <p:spPr>
          <a:xfrm>
            <a:off x="6346580" y="1366869"/>
            <a:ext cx="4925229" cy="4093938"/>
          </a:xfrm>
          <a:prstGeom prst="roundRect">
            <a:avLst>
              <a:gd name="adj" fmla="val 4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0" dist="1016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8" name="Text 4">
            <a:extLst>
              <a:ext uri="{FF2B5EF4-FFF2-40B4-BE49-F238E27FC236}">
                <a16:creationId xmlns:a16="http://schemas.microsoft.com/office/drawing/2014/main" id="{0D91D576-ED14-86A3-CD62-6168BB23EF92}"/>
              </a:ext>
            </a:extLst>
          </p:cNvPr>
          <p:cNvSpPr txBox="1"/>
          <p:nvPr/>
        </p:nvSpPr>
        <p:spPr>
          <a:xfrm>
            <a:off x="571500" y="5809829"/>
            <a:ext cx="9600861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/>
              <a:t>*</a:t>
            </a:r>
            <a:r>
              <a:rPr lang="ko-KR" altLang="en-US" b="1" dirty="0"/>
              <a:t>실제 운영 시에는 입장 게이트 시스템과 연동하여 실시간 데이터를 받아야 합니다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r>
              <a:rPr lang="en-US" altLang="ko-KR" b="1" dirty="0"/>
              <a:t>*</a:t>
            </a:r>
            <a:r>
              <a:rPr lang="ko-KR" altLang="en-US" b="1" dirty="0"/>
              <a:t>실시간 모니터링 기능 </a:t>
            </a:r>
            <a:r>
              <a:rPr lang="en-US" altLang="ko-KR" b="1" dirty="0"/>
              <a:t>– 1</a:t>
            </a:r>
            <a:r>
              <a:rPr lang="ko-KR" altLang="en-US" b="1" dirty="0"/>
              <a:t>분</a:t>
            </a:r>
            <a:r>
              <a:rPr lang="en-US" altLang="ko-KR" b="1" dirty="0"/>
              <a:t>, 10</a:t>
            </a:r>
            <a:r>
              <a:rPr lang="ko-KR" altLang="en-US" b="1" dirty="0"/>
              <a:t>분</a:t>
            </a:r>
            <a:r>
              <a:rPr lang="en-US" altLang="ko-KR" b="1" dirty="0"/>
              <a:t>, 1</a:t>
            </a:r>
            <a:r>
              <a:rPr lang="ko-KR" altLang="en-US" b="1" dirty="0"/>
              <a:t>시간</a:t>
            </a:r>
            <a:endParaRPr lang="en-US" sz="1700" b="1" dirty="0"/>
          </a:p>
        </p:txBody>
      </p:sp>
      <p:pic>
        <p:nvPicPr>
          <p:cNvPr id="72" name="그림 71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9BB603D-38FD-FB73-F44E-585D962DDE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4719" y="1438714"/>
            <a:ext cx="4218589" cy="383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669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2DEAD-FA2A-282D-2EFD-FC41624B3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47C55D-C6AC-4029-63E7-FFE7E46BD3D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771FD84-3AD6-BFEC-1DB4-BF282770363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F256AB7-18B5-CC4B-B8FB-5762E311CBF6}"/>
              </a:ext>
            </a:extLst>
          </p:cNvPr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6">
            <a:extLst>
              <a:ext uri="{FF2B5EF4-FFF2-40B4-BE49-F238E27FC236}">
                <a16:creationId xmlns:a16="http://schemas.microsoft.com/office/drawing/2014/main" id="{6573E580-BF3D-205E-E40C-D393E0481DA4}"/>
              </a:ext>
            </a:extLst>
          </p:cNvPr>
          <p:cNvSpPr/>
          <p:nvPr/>
        </p:nvSpPr>
        <p:spPr>
          <a:xfrm>
            <a:off x="457200" y="457200"/>
            <a:ext cx="694944" cy="228600"/>
          </a:xfrm>
          <a:prstGeom prst="roundRect">
            <a:avLst>
              <a:gd name="adj" fmla="val 400000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7">
            <a:extLst>
              <a:ext uri="{FF2B5EF4-FFF2-40B4-BE49-F238E27FC236}">
                <a16:creationId xmlns:a16="http://schemas.microsoft.com/office/drawing/2014/main" id="{85E404E7-386E-A148-388B-B87EB67E63EF}"/>
              </a:ext>
            </a:extLst>
          </p:cNvPr>
          <p:cNvSpPr txBox="1"/>
          <p:nvPr/>
        </p:nvSpPr>
        <p:spPr>
          <a:xfrm>
            <a:off x="571500" y="485546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RESULT</a:t>
            </a:r>
            <a:endParaRPr lang="en-US" sz="900" dirty="0"/>
          </a:p>
        </p:txBody>
      </p:sp>
      <p:sp>
        <p:nvSpPr>
          <p:cNvPr id="62" name="Text 58">
            <a:extLst>
              <a:ext uri="{FF2B5EF4-FFF2-40B4-BE49-F238E27FC236}">
                <a16:creationId xmlns:a16="http://schemas.microsoft.com/office/drawing/2014/main" id="{6D2A85E4-AABA-6DA2-1E06-A60B68D571B3}"/>
              </a:ext>
            </a:extLst>
          </p:cNvPr>
          <p:cNvSpPr txBox="1"/>
          <p:nvPr/>
        </p:nvSpPr>
        <p:spPr>
          <a:xfrm>
            <a:off x="1260958" y="476402"/>
            <a:ext cx="1843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CONGESTION ANALYSIS</a:t>
            </a:r>
            <a:endParaRPr lang="en-US" sz="1000" dirty="0"/>
          </a:p>
        </p:txBody>
      </p:sp>
      <p:sp>
        <p:nvSpPr>
          <p:cNvPr id="63" name="Text 59">
            <a:extLst>
              <a:ext uri="{FF2B5EF4-FFF2-40B4-BE49-F238E27FC236}">
                <a16:creationId xmlns:a16="http://schemas.microsoft.com/office/drawing/2014/main" id="{F1FD89C8-A2E8-0D41-A173-8DAFDD53EBE2}"/>
              </a:ext>
            </a:extLst>
          </p:cNvPr>
          <p:cNvSpPr txBox="1"/>
          <p:nvPr/>
        </p:nvSpPr>
        <p:spPr>
          <a:xfrm>
            <a:off x="457200" y="685800"/>
            <a:ext cx="52832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</a:rPr>
              <a:t>추가 기능</a:t>
            </a:r>
            <a:r>
              <a:rPr lang="en-US" altLang="ko-KR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</a:rPr>
              <a:t>- </a:t>
            </a:r>
            <a:r>
              <a:rPr lang="ko-KR" alt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</a:rPr>
              <a:t>실시간 혼잡도 모니터링</a:t>
            </a:r>
            <a:r>
              <a:rPr lang="en-US" altLang="ko-KR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</a:rPr>
              <a:t>2</a:t>
            </a:r>
            <a:endParaRPr lang="en-US" sz="2700" dirty="0"/>
          </a:p>
        </p:txBody>
      </p:sp>
      <p:pic>
        <p:nvPicPr>
          <p:cNvPr id="66" name="Image 0" descr="preencoded.png">
            <a:extLst>
              <a:ext uri="{FF2B5EF4-FFF2-40B4-BE49-F238E27FC236}">
                <a16:creationId xmlns:a16="http://schemas.microsoft.com/office/drawing/2014/main" id="{CA7167F0-AE74-562E-EF0B-DDC1CB460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2" b="141"/>
          <a:stretch/>
        </p:blipFill>
        <p:spPr>
          <a:xfrm>
            <a:off x="10652760" y="304495"/>
            <a:ext cx="1238098" cy="571500"/>
          </a:xfrm>
          <a:prstGeom prst="rect">
            <a:avLst/>
          </a:prstGeom>
        </p:spPr>
      </p:pic>
      <p:sp>
        <p:nvSpPr>
          <p:cNvPr id="64" name="Shape 47">
            <a:extLst>
              <a:ext uri="{FF2B5EF4-FFF2-40B4-BE49-F238E27FC236}">
                <a16:creationId xmlns:a16="http://schemas.microsoft.com/office/drawing/2014/main" id="{9AFCABB1-E281-B24A-FA74-675C92D6C60F}"/>
              </a:ext>
            </a:extLst>
          </p:cNvPr>
          <p:cNvSpPr/>
          <p:nvPr/>
        </p:nvSpPr>
        <p:spPr>
          <a:xfrm>
            <a:off x="3208867" y="1333195"/>
            <a:ext cx="5091361" cy="4542671"/>
          </a:xfrm>
          <a:prstGeom prst="roundRect">
            <a:avLst>
              <a:gd name="adj" fmla="val 4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0" dist="1016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8" name="Text 4">
            <a:extLst>
              <a:ext uri="{FF2B5EF4-FFF2-40B4-BE49-F238E27FC236}">
                <a16:creationId xmlns:a16="http://schemas.microsoft.com/office/drawing/2014/main" id="{0329E549-B18A-35E5-0114-6BE8C58178EE}"/>
              </a:ext>
            </a:extLst>
          </p:cNvPr>
          <p:cNvSpPr txBox="1"/>
          <p:nvPr/>
        </p:nvSpPr>
        <p:spPr>
          <a:xfrm>
            <a:off x="2867168" y="6014924"/>
            <a:ext cx="7064231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/>
              <a:t>* </a:t>
            </a:r>
            <a:r>
              <a:rPr lang="ko-KR" altLang="en-US" b="1" dirty="0"/>
              <a:t>담당자에게 카카오톡 연동 시 알림 기능 실시간으로 가능</a:t>
            </a:r>
            <a:endParaRPr lang="en-US" sz="1700" b="1" dirty="0"/>
          </a:p>
        </p:txBody>
      </p:sp>
      <p:pic>
        <p:nvPicPr>
          <p:cNvPr id="70" name="그림 69" descr="텍스트, 스크린샷, 통신 장치, 휴대 전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B50A5C-C50F-D189-DCDC-9D089C167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426" y="1527282"/>
            <a:ext cx="4247947" cy="407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944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DCEA4-6EFA-9889-4A21-BF49AEC07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47B2843-A9A3-D834-15AA-2E52AE84829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3FB909D-6333-086C-5BAF-EDB80AD2A34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9C71B04-FF74-E0CE-6E79-8B8EF3F872E8}"/>
              </a:ext>
            </a:extLst>
          </p:cNvPr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6">
            <a:extLst>
              <a:ext uri="{FF2B5EF4-FFF2-40B4-BE49-F238E27FC236}">
                <a16:creationId xmlns:a16="http://schemas.microsoft.com/office/drawing/2014/main" id="{5A980C80-7904-4F30-E1A7-1F745E508824}"/>
              </a:ext>
            </a:extLst>
          </p:cNvPr>
          <p:cNvSpPr/>
          <p:nvPr/>
        </p:nvSpPr>
        <p:spPr>
          <a:xfrm>
            <a:off x="5378501" y="1333195"/>
            <a:ext cx="6362395" cy="5067605"/>
          </a:xfrm>
          <a:prstGeom prst="roundRect">
            <a:avLst>
              <a:gd name="adj" fmla="val 814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6">
            <a:extLst>
              <a:ext uri="{FF2B5EF4-FFF2-40B4-BE49-F238E27FC236}">
                <a16:creationId xmlns:a16="http://schemas.microsoft.com/office/drawing/2014/main" id="{16706EA9-4984-AE06-1AA4-46B6AA21FD6B}"/>
              </a:ext>
            </a:extLst>
          </p:cNvPr>
          <p:cNvSpPr/>
          <p:nvPr/>
        </p:nvSpPr>
        <p:spPr>
          <a:xfrm>
            <a:off x="457200" y="457200"/>
            <a:ext cx="694944" cy="228600"/>
          </a:xfrm>
          <a:prstGeom prst="roundRect">
            <a:avLst>
              <a:gd name="adj" fmla="val 400000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7">
            <a:extLst>
              <a:ext uri="{FF2B5EF4-FFF2-40B4-BE49-F238E27FC236}">
                <a16:creationId xmlns:a16="http://schemas.microsoft.com/office/drawing/2014/main" id="{6F90CBB0-C9F2-0E12-BDC5-C1660E618B78}"/>
              </a:ext>
            </a:extLst>
          </p:cNvPr>
          <p:cNvSpPr txBox="1"/>
          <p:nvPr/>
        </p:nvSpPr>
        <p:spPr>
          <a:xfrm>
            <a:off x="639236" y="485546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REAL</a:t>
            </a:r>
            <a:endParaRPr lang="en-US" sz="900" dirty="0"/>
          </a:p>
        </p:txBody>
      </p:sp>
      <p:sp>
        <p:nvSpPr>
          <p:cNvPr id="62" name="Text 58">
            <a:extLst>
              <a:ext uri="{FF2B5EF4-FFF2-40B4-BE49-F238E27FC236}">
                <a16:creationId xmlns:a16="http://schemas.microsoft.com/office/drawing/2014/main" id="{EB2DED99-E60E-E036-693C-58F3008663CA}"/>
              </a:ext>
            </a:extLst>
          </p:cNvPr>
          <p:cNvSpPr txBox="1"/>
          <p:nvPr/>
        </p:nvSpPr>
        <p:spPr>
          <a:xfrm>
            <a:off x="1260958" y="476402"/>
            <a:ext cx="1843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CONGESTION ANALYSIS</a:t>
            </a:r>
            <a:endParaRPr lang="en-US" sz="1000" dirty="0"/>
          </a:p>
        </p:txBody>
      </p:sp>
      <p:sp>
        <p:nvSpPr>
          <p:cNvPr id="63" name="Text 59">
            <a:extLst>
              <a:ext uri="{FF2B5EF4-FFF2-40B4-BE49-F238E27FC236}">
                <a16:creationId xmlns:a16="http://schemas.microsoft.com/office/drawing/2014/main" id="{EEF0B549-FAFD-F4D8-55E8-750EA6D5A13B}"/>
              </a:ext>
            </a:extLst>
          </p:cNvPr>
          <p:cNvSpPr txBox="1"/>
          <p:nvPr/>
        </p:nvSpPr>
        <p:spPr>
          <a:xfrm>
            <a:off x="457200" y="685800"/>
            <a:ext cx="33915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</a:rPr>
              <a:t>실제로 사용 해보기</a:t>
            </a:r>
            <a:endParaRPr lang="en-US" sz="2700" dirty="0"/>
          </a:p>
        </p:txBody>
      </p:sp>
      <p:pic>
        <p:nvPicPr>
          <p:cNvPr id="65" name="그림 64" descr="패턴, 사각형, 직사각형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7B2FA8F-9E2E-E7CD-DBC1-41A1367C5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050" y="1441452"/>
            <a:ext cx="4533900" cy="4533900"/>
          </a:xfrm>
          <a:prstGeom prst="rect">
            <a:avLst/>
          </a:prstGeom>
        </p:spPr>
      </p:pic>
      <p:pic>
        <p:nvPicPr>
          <p:cNvPr id="66" name="Image 0" descr="preencoded.png">
            <a:extLst>
              <a:ext uri="{FF2B5EF4-FFF2-40B4-BE49-F238E27FC236}">
                <a16:creationId xmlns:a16="http://schemas.microsoft.com/office/drawing/2014/main" id="{4F4C30FE-F4E2-A280-9017-969B26FE43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2" b="141"/>
          <a:stretch/>
        </p:blipFill>
        <p:spPr>
          <a:xfrm>
            <a:off x="10652760" y="304495"/>
            <a:ext cx="1238098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610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5410505" cy="4876495"/>
          </a:xfrm>
          <a:prstGeom prst="roundRect">
            <a:avLst>
              <a:gd name="adj" fmla="val 58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71754" y="2371954"/>
            <a:ext cx="4781398" cy="9144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2792578" y="1666951"/>
            <a:ext cx="9144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756916" y="2029054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업무 방식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1754" y="2686507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 l="-1773" r="-1773"/>
          <a:stretch/>
        </p:blipFill>
        <p:spPr>
          <a:xfrm>
            <a:off x="933602" y="2829154"/>
            <a:ext cx="133502" cy="171907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380744" y="2676449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 방식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380744" y="2885846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수동 계산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71754" y="3372307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4400" y="3514954"/>
            <a:ext cx="171907" cy="171907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380744" y="3362249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소요 시간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380744" y="3571646"/>
            <a:ext cx="11100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30분 ~ 1시간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771754" y="4058107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 l="-1064" r="-1064"/>
          <a:stretch/>
        </p:blipFill>
        <p:spPr>
          <a:xfrm>
            <a:off x="890626" y="4200754"/>
            <a:ext cx="219456" cy="171907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380744" y="4048049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1380744" y="4257446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 역량 의존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771754" y="4743907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14400" y="4886554"/>
            <a:ext cx="171907" cy="171907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380744" y="4733849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혼잡도 판단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380744" y="4943246"/>
            <a:ext cx="17007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 기반 감각적 판단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6324905" y="1371600"/>
            <a:ext cx="5410505" cy="4876495"/>
          </a:xfrm>
          <a:prstGeom prst="roundRect">
            <a:avLst>
              <a:gd name="adj" fmla="val 586"/>
            </a:avLst>
          </a:prstGeom>
          <a:solidFill>
            <a:srgbClr val="FFFFFF"/>
          </a:solidFill>
          <a:ln w="25400">
            <a:solidFill>
              <a:srgbClr val="FF6633"/>
            </a:solidFill>
            <a:prstDash val="solid"/>
          </a:ln>
          <a:effectLst>
            <a:outerShdw blurRad="292100" dist="101600" dir="5400000" algn="bl" rotWithShape="0">
              <a:srgbClr val="FF6633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5"/>
          <p:cNvSpPr/>
          <p:nvPr/>
        </p:nvSpPr>
        <p:spPr>
          <a:xfrm>
            <a:off x="6648602" y="2381098"/>
            <a:ext cx="47621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6"/>
          <p:cNvSpPr txBox="1"/>
          <p:nvPr/>
        </p:nvSpPr>
        <p:spPr>
          <a:xfrm>
            <a:off x="8742578" y="1676095"/>
            <a:ext cx="7525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6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8545982" y="2038198"/>
            <a:ext cx="10716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시스템 도입 후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6648602" y="2771546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6633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rcRect l="-1064" r="-1064"/>
          <a:stretch/>
        </p:blipFill>
        <p:spPr>
          <a:xfrm>
            <a:off x="6767474" y="2915107"/>
            <a:ext cx="219456" cy="171907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7258507" y="2762402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 방식</a:t>
            </a:r>
            <a:endParaRPr lang="en-US" sz="900" dirty="0"/>
          </a:p>
        </p:txBody>
      </p:sp>
      <p:sp>
        <p:nvSpPr>
          <p:cNvPr id="37" name="Text 30"/>
          <p:cNvSpPr txBox="1"/>
          <p:nvPr/>
        </p:nvSpPr>
        <p:spPr>
          <a:xfrm>
            <a:off x="7258507" y="2952598"/>
            <a:ext cx="1143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자동 계산</a:t>
            </a:r>
            <a:endParaRPr lang="en-US" sz="1500" dirty="0"/>
          </a:p>
        </p:txBody>
      </p:sp>
      <p:sp>
        <p:nvSpPr>
          <p:cNvPr id="38" name="Shape 31"/>
          <p:cNvSpPr/>
          <p:nvPr/>
        </p:nvSpPr>
        <p:spPr>
          <a:xfrm>
            <a:off x="6648602" y="366217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6633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rcRect l="-760" r="-760"/>
          <a:stretch/>
        </p:blipFill>
        <p:spPr>
          <a:xfrm>
            <a:off x="6801307" y="3804818"/>
            <a:ext cx="152705" cy="171907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7258507" y="3600907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소요 시간</a:t>
            </a:r>
            <a:endParaRPr lang="en-US" sz="900" dirty="0"/>
          </a:p>
        </p:txBody>
      </p:sp>
      <p:sp>
        <p:nvSpPr>
          <p:cNvPr id="41" name="Text 33"/>
          <p:cNvSpPr txBox="1"/>
          <p:nvPr/>
        </p:nvSpPr>
        <p:spPr>
          <a:xfrm>
            <a:off x="7258507" y="3762756"/>
            <a:ext cx="65288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6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10초</a:t>
            </a:r>
            <a:endParaRPr lang="en-US" sz="2200" dirty="0"/>
          </a:p>
        </p:txBody>
      </p:sp>
      <p:sp>
        <p:nvSpPr>
          <p:cNvPr id="44" name="Shape 36"/>
          <p:cNvSpPr/>
          <p:nvPr/>
        </p:nvSpPr>
        <p:spPr>
          <a:xfrm>
            <a:off x="6648602" y="455279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6633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rcRect l="-760" r="-760"/>
          <a:stretch/>
        </p:blipFill>
        <p:spPr>
          <a:xfrm>
            <a:off x="6801307" y="4695444"/>
            <a:ext cx="152705" cy="171907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7258507" y="4543654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</a:t>
            </a:r>
            <a:endParaRPr lang="en-US" sz="900" dirty="0"/>
          </a:p>
        </p:txBody>
      </p:sp>
      <p:sp>
        <p:nvSpPr>
          <p:cNvPr id="47" name="Text 38"/>
          <p:cNvSpPr txBox="1"/>
          <p:nvPr/>
        </p:nvSpPr>
        <p:spPr>
          <a:xfrm>
            <a:off x="7258507" y="4733849"/>
            <a:ext cx="1476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일관된 기준 적용</a:t>
            </a:r>
            <a:endParaRPr lang="en-US" sz="1500" dirty="0"/>
          </a:p>
        </p:txBody>
      </p:sp>
      <p:sp>
        <p:nvSpPr>
          <p:cNvPr id="48" name="Shape 39"/>
          <p:cNvSpPr/>
          <p:nvPr/>
        </p:nvSpPr>
        <p:spPr>
          <a:xfrm>
            <a:off x="6648602" y="539130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6633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10"/>
          <a:srcRect t="-842" b="-842"/>
          <a:stretch/>
        </p:blipFill>
        <p:spPr>
          <a:xfrm>
            <a:off x="6782105" y="5533949"/>
            <a:ext cx="190195" cy="171907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7258507" y="5381244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혼잡도 판단</a:t>
            </a:r>
            <a:endParaRPr lang="en-US" sz="900" dirty="0"/>
          </a:p>
        </p:txBody>
      </p:sp>
      <p:sp>
        <p:nvSpPr>
          <p:cNvPr id="51" name="Text 41"/>
          <p:cNvSpPr txBox="1"/>
          <p:nvPr/>
        </p:nvSpPr>
        <p:spPr>
          <a:xfrm>
            <a:off x="7258507" y="5572354"/>
            <a:ext cx="16002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5단계</a:t>
            </a:r>
            <a:endParaRPr lang="en-US" sz="1500" dirty="0"/>
          </a:p>
        </p:txBody>
      </p:sp>
      <p:sp>
        <p:nvSpPr>
          <p:cNvPr id="57" name="Shape 45"/>
          <p:cNvSpPr/>
          <p:nvPr/>
        </p:nvSpPr>
        <p:spPr>
          <a:xfrm>
            <a:off x="5810098" y="3524098"/>
            <a:ext cx="571500" cy="571500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10" descr="preencoded.png"/>
          <p:cNvPicPr>
            <a:picLocks noChangeAspect="1"/>
          </p:cNvPicPr>
          <p:nvPr/>
        </p:nvPicPr>
        <p:blipFill>
          <a:blip r:embed="rId11"/>
          <a:srcRect t="-80" b="-80"/>
          <a:stretch/>
        </p:blipFill>
        <p:spPr>
          <a:xfrm>
            <a:off x="6024982" y="3696005"/>
            <a:ext cx="142646" cy="228600"/>
          </a:xfrm>
          <a:prstGeom prst="rect">
            <a:avLst/>
          </a:prstGeom>
        </p:spPr>
      </p:pic>
      <p:sp>
        <p:nvSpPr>
          <p:cNvPr id="100" name="Shape 4">
            <a:extLst>
              <a:ext uri="{FF2B5EF4-FFF2-40B4-BE49-F238E27FC236}">
                <a16:creationId xmlns:a16="http://schemas.microsoft.com/office/drawing/2014/main" id="{AE617D7A-D61A-159A-BAB9-F5A0921AAC36}"/>
              </a:ext>
            </a:extLst>
          </p:cNvPr>
          <p:cNvSpPr/>
          <p:nvPr/>
        </p:nvSpPr>
        <p:spPr>
          <a:xfrm>
            <a:off x="1305763" y="1143000"/>
            <a:ext cx="10429646" cy="3840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5">
            <a:extLst>
              <a:ext uri="{FF2B5EF4-FFF2-40B4-BE49-F238E27FC236}">
                <a16:creationId xmlns:a16="http://schemas.microsoft.com/office/drawing/2014/main" id="{FAA04A1D-989B-A562-4534-2E1EE5D7D713}"/>
              </a:ext>
            </a:extLst>
          </p:cNvPr>
          <p:cNvSpPr txBox="1"/>
          <p:nvPr/>
        </p:nvSpPr>
        <p:spPr>
          <a:xfrm>
            <a:off x="457200" y="466344"/>
            <a:ext cx="11338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66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4500" dirty="0"/>
          </a:p>
        </p:txBody>
      </p:sp>
      <p:sp>
        <p:nvSpPr>
          <p:cNvPr id="102" name="Text 6">
            <a:extLst>
              <a:ext uri="{FF2B5EF4-FFF2-40B4-BE49-F238E27FC236}">
                <a16:creationId xmlns:a16="http://schemas.microsoft.com/office/drawing/2014/main" id="{924073D4-C5C0-36E3-5DB8-B7C64CC31EF8}"/>
              </a:ext>
            </a:extLst>
          </p:cNvPr>
          <p:cNvSpPr txBox="1"/>
          <p:nvPr/>
        </p:nvSpPr>
        <p:spPr>
          <a:xfrm>
            <a:off x="1305763" y="381305"/>
            <a:ext cx="4953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</a:t>
            </a:r>
            <a:r>
              <a:rPr lang="en-US" altLang="ko-KR" sz="28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업무는</a:t>
            </a:r>
            <a:r>
              <a:rPr lang="en-US" altLang="ko-KR" sz="2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8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이렇게</a:t>
            </a:r>
            <a:r>
              <a:rPr lang="en-US" altLang="ko-KR" sz="2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8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달라졌다</a:t>
            </a:r>
            <a:endParaRPr lang="en-US" altLang="ko-KR" sz="2800" dirty="0"/>
          </a:p>
        </p:txBody>
      </p:sp>
      <p:sp>
        <p:nvSpPr>
          <p:cNvPr id="103" name="Text 7">
            <a:extLst>
              <a:ext uri="{FF2B5EF4-FFF2-40B4-BE49-F238E27FC236}">
                <a16:creationId xmlns:a16="http://schemas.microsoft.com/office/drawing/2014/main" id="{7DCB60CC-3AAD-0732-9606-9BB17AA29447}"/>
              </a:ext>
            </a:extLst>
          </p:cNvPr>
          <p:cNvSpPr txBox="1"/>
          <p:nvPr/>
        </p:nvSpPr>
        <p:spPr>
          <a:xfrm>
            <a:off x="1305763" y="838505"/>
            <a:ext cx="20153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 &amp; EFFICIENCY</a:t>
            </a:r>
            <a:endParaRPr lang="en-US" altLang="ko-KR" sz="1000" dirty="0"/>
          </a:p>
        </p:txBody>
      </p:sp>
      <p:pic>
        <p:nvPicPr>
          <p:cNvPr id="104" name="Image 0" descr="preencoded.png">
            <a:extLst>
              <a:ext uri="{FF2B5EF4-FFF2-40B4-BE49-F238E27FC236}">
                <a16:creationId xmlns:a16="http://schemas.microsoft.com/office/drawing/2014/main" id="{F8294C05-DD4E-05CC-C70A-038CF5D0D1B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142" b="141"/>
          <a:stretch/>
        </p:blipFill>
        <p:spPr>
          <a:xfrm>
            <a:off x="10652760" y="304495"/>
            <a:ext cx="1238098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3748126"/>
            <a:ext cx="12191695" cy="342900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410005"/>
            <a:ext cx="3562502" cy="4990795"/>
          </a:xfrm>
          <a:prstGeom prst="roundRect">
            <a:avLst>
              <a:gd name="adj" fmla="val 109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7200" y="1410005"/>
            <a:ext cx="3562502" cy="3840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/>
          <a:stretch/>
        </p:blipFill>
        <p:spPr>
          <a:xfrm>
            <a:off x="2794406" y="1257300"/>
            <a:ext cx="1410005" cy="141000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61695" y="175290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D1FAE5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8972" y="1886407"/>
            <a:ext cx="142646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371600" y="1762049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가능성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371600" y="2029054"/>
            <a:ext cx="7050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 팀 적용</a:t>
            </a:r>
            <a:endParaRPr lang="en-US" sz="9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l="-2512" r="-2512"/>
          <a:stretch/>
        </p:blipFill>
        <p:spPr>
          <a:xfrm>
            <a:off x="875995" y="2590495"/>
            <a:ext cx="105156" cy="1335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95451" y="2553005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기획 단계 활용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095451" y="2819095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행사 제안부터 실행 계획까지 전 과정 적용</a:t>
            </a:r>
            <a:endParaRPr lang="en-US" sz="10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rcRect l="-2512" r="-2512"/>
          <a:stretch/>
        </p:blipFill>
        <p:spPr>
          <a:xfrm>
            <a:off x="875995" y="3429000"/>
            <a:ext cx="105156" cy="13350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95451" y="3390595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관리 기준 수립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1095451" y="3657600"/>
            <a:ext cx="25008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객관적 데이터 기반의 안전 가이드라인 제공</a:t>
            </a:r>
            <a:endParaRPr lang="en-US" sz="10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rcRect l="-2512" r="-2512"/>
          <a:stretch/>
        </p:blipFill>
        <p:spPr>
          <a:xfrm>
            <a:off x="875995" y="4267505"/>
            <a:ext cx="105156" cy="13350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095451" y="4229100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유형 대응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1095451" y="4496105"/>
            <a:ext cx="25292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전시, 컨벤션, 공연 등 다양한 배치 적용 가능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4317797" y="1561795"/>
            <a:ext cx="3562502" cy="4990795"/>
          </a:xfrm>
          <a:prstGeom prst="roundRect">
            <a:avLst>
              <a:gd name="adj" fmla="val 109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0"/>
          <p:cNvSpPr/>
          <p:nvPr/>
        </p:nvSpPr>
        <p:spPr>
          <a:xfrm>
            <a:off x="4317797" y="1561795"/>
            <a:ext cx="3562502" cy="3840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4765853" y="2038198"/>
            <a:ext cx="171907" cy="190195"/>
          </a:xfrm>
          <a:prstGeom prst="rect">
            <a:avLst/>
          </a:prstGeom>
        </p:spPr>
      </p:pic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rcRect l="-2512" r="-2512"/>
          <a:stretch/>
        </p:blipFill>
        <p:spPr>
          <a:xfrm>
            <a:off x="4737506" y="2743200"/>
            <a:ext cx="105156" cy="133502"/>
          </a:xfrm>
          <a:prstGeom prst="rect">
            <a:avLst/>
          </a:prstGeom>
        </p:spPr>
      </p:pic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737506" y="3581705"/>
            <a:ext cx="133502" cy="133502"/>
          </a:xfrm>
          <a:prstGeom prst="rect">
            <a:avLst/>
          </a:prstGeom>
        </p:spPr>
      </p:pic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737506" y="4419295"/>
            <a:ext cx="133502" cy="133502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5232197" y="1914754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 가능성</a:t>
            </a:r>
            <a:endParaRPr lang="en-US" sz="1500" dirty="0"/>
          </a:p>
        </p:txBody>
      </p:sp>
      <p:sp>
        <p:nvSpPr>
          <p:cNvPr id="33" name="Text 22"/>
          <p:cNvSpPr txBox="1"/>
          <p:nvPr/>
        </p:nvSpPr>
        <p:spPr>
          <a:xfrm>
            <a:off x="5232197" y="2180844"/>
            <a:ext cx="7050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66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팀 적용</a:t>
            </a:r>
            <a:endParaRPr lang="en-US" sz="900" dirty="0"/>
          </a:p>
        </p:txBody>
      </p:sp>
      <p:sp>
        <p:nvSpPr>
          <p:cNvPr id="34" name="Text 23"/>
          <p:cNvSpPr txBox="1"/>
          <p:nvPr/>
        </p:nvSpPr>
        <p:spPr>
          <a:xfrm>
            <a:off x="4956048" y="2704795"/>
            <a:ext cx="819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시설관리팀</a:t>
            </a:r>
            <a:endParaRPr lang="en-US" sz="1200" dirty="0"/>
          </a:p>
        </p:txBody>
      </p:sp>
      <p:sp>
        <p:nvSpPr>
          <p:cNvPr id="35" name="Text 24"/>
          <p:cNvSpPr txBox="1"/>
          <p:nvPr/>
        </p:nvSpPr>
        <p:spPr>
          <a:xfrm>
            <a:off x="4956048" y="2971800"/>
            <a:ext cx="2167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공간 효율성 분석 및 적정 수용량 관리</a:t>
            </a:r>
            <a:endParaRPr lang="en-US" sz="1000" dirty="0"/>
          </a:p>
        </p:txBody>
      </p:sp>
      <p:sp>
        <p:nvSpPr>
          <p:cNvPr id="36" name="Text 25"/>
          <p:cNvSpPr txBox="1"/>
          <p:nvPr/>
        </p:nvSpPr>
        <p:spPr>
          <a:xfrm>
            <a:off x="4984394" y="3543300"/>
            <a:ext cx="819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안전관리팀</a:t>
            </a:r>
            <a:endParaRPr lang="en-US" sz="1200" dirty="0"/>
          </a:p>
        </p:txBody>
      </p:sp>
      <p:sp>
        <p:nvSpPr>
          <p:cNvPr id="37" name="Text 26"/>
          <p:cNvSpPr txBox="1"/>
          <p:nvPr/>
        </p:nvSpPr>
        <p:spPr>
          <a:xfrm>
            <a:off x="4984394" y="3810305"/>
            <a:ext cx="21296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비상 대피 시뮬레이션 및 위험도 예측</a:t>
            </a:r>
            <a:endParaRPr lang="en-US" sz="1000" dirty="0"/>
          </a:p>
        </p:txBody>
      </p:sp>
      <p:sp>
        <p:nvSpPr>
          <p:cNvPr id="38" name="Text 27"/>
          <p:cNvSpPr txBox="1"/>
          <p:nvPr/>
        </p:nvSpPr>
        <p:spPr>
          <a:xfrm>
            <a:off x="4984394" y="4381805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이벤트 기획사</a:t>
            </a:r>
            <a:endParaRPr lang="en-US" sz="1200" dirty="0"/>
          </a:p>
        </p:txBody>
      </p:sp>
      <p:sp>
        <p:nvSpPr>
          <p:cNvPr id="39" name="Text 28"/>
          <p:cNvSpPr txBox="1"/>
          <p:nvPr/>
        </p:nvSpPr>
        <p:spPr>
          <a:xfrm>
            <a:off x="4984394" y="4647895"/>
            <a:ext cx="2167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제안서 신뢰도 향상 및 고객 설득 자료</a:t>
            </a:r>
            <a:endParaRPr lang="en-US" sz="1000" dirty="0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0">
            <a:alphaModFix amt="5000"/>
          </a:blip>
          <a:srcRect t="-3467" b="-3467"/>
          <a:stretch/>
        </p:blipFill>
        <p:spPr>
          <a:xfrm>
            <a:off x="6349594" y="1410005"/>
            <a:ext cx="1714500" cy="1466698"/>
          </a:xfrm>
          <a:prstGeom prst="rect">
            <a:avLst/>
          </a:prstGeom>
        </p:spPr>
      </p:pic>
      <p:sp>
        <p:nvSpPr>
          <p:cNvPr id="41" name="Shape 29"/>
          <p:cNvSpPr/>
          <p:nvPr/>
        </p:nvSpPr>
        <p:spPr>
          <a:xfrm>
            <a:off x="8178394" y="1410005"/>
            <a:ext cx="3562502" cy="4990795"/>
          </a:xfrm>
          <a:prstGeom prst="roundRect">
            <a:avLst>
              <a:gd name="adj" fmla="val 109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0"/>
          <p:cNvSpPr/>
          <p:nvPr/>
        </p:nvSpPr>
        <p:spPr>
          <a:xfrm>
            <a:off x="8178394" y="1410005"/>
            <a:ext cx="3562502" cy="38405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1">
            <a:alphaModFix amt="5000"/>
          </a:blip>
          <a:srcRect/>
          <a:stretch/>
        </p:blipFill>
        <p:spPr>
          <a:xfrm>
            <a:off x="10515600" y="1257300"/>
            <a:ext cx="1410005" cy="1410005"/>
          </a:xfrm>
          <a:prstGeom prst="rect">
            <a:avLst/>
          </a:prstGeom>
        </p:spPr>
      </p:pic>
      <p:sp>
        <p:nvSpPr>
          <p:cNvPr id="44" name="Shape 31"/>
          <p:cNvSpPr/>
          <p:nvPr/>
        </p:nvSpPr>
        <p:spPr>
          <a:xfrm>
            <a:off x="8483803" y="175290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3F4F6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617306" y="1886407"/>
            <a:ext cx="190195" cy="190195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9092794" y="1762049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보완 과제</a:t>
            </a:r>
            <a:endParaRPr lang="en-US" sz="1500" dirty="0"/>
          </a:p>
        </p:txBody>
      </p:sp>
      <p:sp>
        <p:nvSpPr>
          <p:cNvPr id="47" name="Text 33"/>
          <p:cNvSpPr txBox="1"/>
          <p:nvPr/>
        </p:nvSpPr>
        <p:spPr>
          <a:xfrm>
            <a:off x="9092794" y="2029054"/>
            <a:ext cx="667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지속적 발전</a:t>
            </a:r>
            <a:endParaRPr lang="en-US" sz="900" dirty="0"/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13"/>
          <a:srcRect t="-1100" b="-1100"/>
          <a:stretch/>
        </p:blipFill>
        <p:spPr>
          <a:xfrm>
            <a:off x="8598103" y="2590495"/>
            <a:ext cx="114300" cy="133502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8826703" y="2553005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학습 확대</a:t>
            </a:r>
            <a:endParaRPr lang="en-US" sz="1200" dirty="0"/>
          </a:p>
        </p:txBody>
      </p:sp>
      <p:sp>
        <p:nvSpPr>
          <p:cNvPr id="50" name="Text 35"/>
          <p:cNvSpPr txBox="1"/>
          <p:nvPr/>
        </p:nvSpPr>
        <p:spPr>
          <a:xfrm>
            <a:off x="8826703" y="2819095"/>
            <a:ext cx="24533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야외 행사장 및 비정형 공간 유형 추가 학습</a:t>
            </a:r>
            <a:endParaRPr lang="en-US" sz="1000" dirty="0"/>
          </a:p>
        </p:txBody>
      </p:sp>
      <p:pic>
        <p:nvPicPr>
          <p:cNvPr id="51" name="Image 13" descr="preencoded.png"/>
          <p:cNvPicPr>
            <a:picLocks noChangeAspect="1"/>
          </p:cNvPicPr>
          <p:nvPr/>
        </p:nvPicPr>
        <p:blipFill>
          <a:blip r:embed="rId13"/>
          <a:srcRect t="-1100" b="-1100"/>
          <a:stretch/>
        </p:blipFill>
        <p:spPr>
          <a:xfrm>
            <a:off x="8598103" y="3429000"/>
            <a:ext cx="114300" cy="133502"/>
          </a:xfrm>
          <a:prstGeom prst="rect">
            <a:avLst/>
          </a:prstGeom>
        </p:spPr>
      </p:pic>
      <p:sp>
        <p:nvSpPr>
          <p:cNvPr id="52" name="Text 36"/>
          <p:cNvSpPr txBox="1"/>
          <p:nvPr/>
        </p:nvSpPr>
        <p:spPr>
          <a:xfrm>
            <a:off x="8826703" y="3390595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연동</a:t>
            </a:r>
            <a:endParaRPr lang="en-US" sz="1200" dirty="0"/>
          </a:p>
        </p:txBody>
      </p:sp>
      <p:sp>
        <p:nvSpPr>
          <p:cNvPr id="53" name="Text 37"/>
          <p:cNvSpPr txBox="1"/>
          <p:nvPr/>
        </p:nvSpPr>
        <p:spPr>
          <a:xfrm>
            <a:off x="8826703" y="3657600"/>
            <a:ext cx="24341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CCTV 및 IoT 센서와 연동한 실시간 밀집도</a:t>
            </a:r>
            <a:endParaRPr lang="en-US" sz="1000" dirty="0"/>
          </a:p>
        </p:txBody>
      </p:sp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13"/>
          <a:srcRect t="-1100" b="-1100"/>
          <a:stretch/>
        </p:blipFill>
        <p:spPr>
          <a:xfrm>
            <a:off x="8598103" y="4267505"/>
            <a:ext cx="114300" cy="133502"/>
          </a:xfrm>
          <a:prstGeom prst="rect">
            <a:avLst/>
          </a:prstGeom>
        </p:spPr>
      </p:pic>
      <p:sp>
        <p:nvSpPr>
          <p:cNvPr id="55" name="Text 38"/>
          <p:cNvSpPr txBox="1"/>
          <p:nvPr/>
        </p:nvSpPr>
        <p:spPr>
          <a:xfrm>
            <a:off x="8826703" y="4229100"/>
            <a:ext cx="1105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3D 분석 고도화</a:t>
            </a:r>
            <a:endParaRPr lang="en-US" sz="1200" dirty="0"/>
          </a:p>
        </p:txBody>
      </p:sp>
      <p:sp>
        <p:nvSpPr>
          <p:cNvPr id="56" name="Text 39"/>
          <p:cNvSpPr txBox="1"/>
          <p:nvPr/>
        </p:nvSpPr>
        <p:spPr>
          <a:xfrm>
            <a:off x="8826703" y="4496105"/>
            <a:ext cx="23289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복층 구조 및 입체적 공간 분석 기능 강화</a:t>
            </a:r>
            <a:endParaRPr lang="en-US" sz="1000" dirty="0"/>
          </a:p>
        </p:txBody>
      </p:sp>
      <p:sp>
        <p:nvSpPr>
          <p:cNvPr id="57" name="Shape 40"/>
          <p:cNvSpPr/>
          <p:nvPr/>
        </p:nvSpPr>
        <p:spPr>
          <a:xfrm>
            <a:off x="11430000" y="6548018"/>
            <a:ext cx="304495" cy="9144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41"/>
          <p:cNvSpPr txBox="1"/>
          <p:nvPr/>
        </p:nvSpPr>
        <p:spPr>
          <a:xfrm>
            <a:off x="10637215" y="6467551"/>
            <a:ext cx="810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>
                    <a:alpha val="4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 STEP</a:t>
            </a:r>
            <a:endParaRPr lang="en-US" sz="900" dirty="0"/>
          </a:p>
        </p:txBody>
      </p:sp>
      <p:sp>
        <p:nvSpPr>
          <p:cNvPr id="61" name="Shape 4">
            <a:extLst>
              <a:ext uri="{FF2B5EF4-FFF2-40B4-BE49-F238E27FC236}">
                <a16:creationId xmlns:a16="http://schemas.microsoft.com/office/drawing/2014/main" id="{DC0CD757-5F50-FC89-22D9-36C348C826A6}"/>
              </a:ext>
            </a:extLst>
          </p:cNvPr>
          <p:cNvSpPr/>
          <p:nvPr/>
        </p:nvSpPr>
        <p:spPr>
          <a:xfrm>
            <a:off x="1305763" y="1143000"/>
            <a:ext cx="10429646" cy="3840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">
            <a:extLst>
              <a:ext uri="{FF2B5EF4-FFF2-40B4-BE49-F238E27FC236}">
                <a16:creationId xmlns:a16="http://schemas.microsoft.com/office/drawing/2014/main" id="{4AB8469C-37C9-6D84-04FE-2EFC70844F06}"/>
              </a:ext>
            </a:extLst>
          </p:cNvPr>
          <p:cNvSpPr txBox="1"/>
          <p:nvPr/>
        </p:nvSpPr>
        <p:spPr>
          <a:xfrm>
            <a:off x="457200" y="466344"/>
            <a:ext cx="11338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66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4500" dirty="0"/>
          </a:p>
        </p:txBody>
      </p:sp>
      <p:sp>
        <p:nvSpPr>
          <p:cNvPr id="63" name="Text 6">
            <a:extLst>
              <a:ext uri="{FF2B5EF4-FFF2-40B4-BE49-F238E27FC236}">
                <a16:creationId xmlns:a16="http://schemas.microsoft.com/office/drawing/2014/main" id="{6B96BA32-BAAB-AAB1-0113-397FAFD9C413}"/>
              </a:ext>
            </a:extLst>
          </p:cNvPr>
          <p:cNvSpPr txBox="1"/>
          <p:nvPr/>
        </p:nvSpPr>
        <p:spPr>
          <a:xfrm>
            <a:off x="1305763" y="381305"/>
            <a:ext cx="4953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8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</a:t>
            </a:r>
            <a:r>
              <a:rPr lang="en-US" altLang="ko-KR" sz="2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8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업무에</a:t>
            </a:r>
            <a:r>
              <a:rPr lang="en-US" altLang="ko-KR" sz="2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8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계속</a:t>
            </a:r>
            <a:r>
              <a:rPr lang="en-US" altLang="ko-KR" sz="2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쓸 수 </a:t>
            </a:r>
            <a:r>
              <a:rPr lang="en-US" altLang="ko-KR" sz="28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있을까</a:t>
            </a:r>
            <a:r>
              <a:rPr lang="en-US" altLang="ko-KR" sz="2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?</a:t>
            </a:r>
            <a:endParaRPr lang="en-US" altLang="ko-KR" sz="2800" dirty="0"/>
          </a:p>
        </p:txBody>
      </p:sp>
      <p:sp>
        <p:nvSpPr>
          <p:cNvPr id="64" name="Text 7">
            <a:extLst>
              <a:ext uri="{FF2B5EF4-FFF2-40B4-BE49-F238E27FC236}">
                <a16:creationId xmlns:a16="http://schemas.microsoft.com/office/drawing/2014/main" id="{406F2CCB-3473-C750-2D6D-21E57C87C15F}"/>
              </a:ext>
            </a:extLst>
          </p:cNvPr>
          <p:cNvSpPr txBox="1"/>
          <p:nvPr/>
        </p:nvSpPr>
        <p:spPr>
          <a:xfrm>
            <a:off x="1305763" y="838505"/>
            <a:ext cx="20153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SUSTAINABILITY</a:t>
            </a:r>
            <a:endParaRPr lang="en-US" altLang="ko-KR" sz="1000" dirty="0"/>
          </a:p>
        </p:txBody>
      </p:sp>
      <p:pic>
        <p:nvPicPr>
          <p:cNvPr id="65" name="Image 0" descr="preencoded.png">
            <a:extLst>
              <a:ext uri="{FF2B5EF4-FFF2-40B4-BE49-F238E27FC236}">
                <a16:creationId xmlns:a16="http://schemas.microsoft.com/office/drawing/2014/main" id="{048CBC7D-FE87-5F89-3C17-0C2ED1E84A1B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142" b="141"/>
          <a:stretch/>
        </p:blipFill>
        <p:spPr>
          <a:xfrm>
            <a:off x="10652760" y="304495"/>
            <a:ext cx="1238098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1064" r="-1064"/>
          <a:stretch/>
        </p:blipFill>
        <p:spPr>
          <a:xfrm>
            <a:off x="457200" y="1770821"/>
            <a:ext cx="219456" cy="17190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52551" y="1723272"/>
            <a:ext cx="139628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Role Definition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217962"/>
            <a:ext cx="2648102" cy="3486607"/>
          </a:xfrm>
          <a:prstGeom prst="roundRect">
            <a:avLst>
              <a:gd name="adj" fmla="val 14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399946" y="2456621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530" b="-530"/>
          <a:stretch/>
        </p:blipFill>
        <p:spPr>
          <a:xfrm>
            <a:off x="1657807" y="2694365"/>
            <a:ext cx="247802" cy="28620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28954" y="3360962"/>
            <a:ext cx="12481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황보정운 실장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429207" y="3703862"/>
            <a:ext cx="7909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6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Lead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94944" y="4856921"/>
            <a:ext cx="2171700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 txBox="1"/>
          <p:nvPr/>
        </p:nvSpPr>
        <p:spPr>
          <a:xfrm>
            <a:off x="1394460" y="5018769"/>
            <a:ext cx="881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총괄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829361" y="5247369"/>
            <a:ext cx="20052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b="1" dirty="0"/>
              <a:t>기획</a:t>
            </a:r>
            <a:r>
              <a:rPr lang="en-US" altLang="ko-KR" sz="1000" b="1" dirty="0"/>
              <a:t> </a:t>
            </a:r>
            <a:r>
              <a:rPr lang="ko-KR" altLang="en-US" sz="1000" b="1" dirty="0"/>
              <a:t>및 발표</a:t>
            </a:r>
            <a:endParaRPr lang="en-US" altLang="ko-KR" sz="1000" b="1" dirty="0"/>
          </a:p>
        </p:txBody>
      </p:sp>
      <p:sp>
        <p:nvSpPr>
          <p:cNvPr id="18" name="Shape 14"/>
          <p:cNvSpPr/>
          <p:nvPr/>
        </p:nvSpPr>
        <p:spPr>
          <a:xfrm>
            <a:off x="3333902" y="2217962"/>
            <a:ext cx="2648102" cy="3486607"/>
          </a:xfrm>
          <a:prstGeom prst="roundRect">
            <a:avLst>
              <a:gd name="adj" fmla="val 14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4276649" y="2456621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15307" y="2694365"/>
            <a:ext cx="286207" cy="28620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192524" y="3360962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신희제 선임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4403750" y="3675516"/>
            <a:ext cx="514807" cy="228600"/>
          </a:xfrm>
          <a:prstGeom prst="roundRect">
            <a:avLst>
              <a:gd name="adj" fmla="val 66667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 txBox="1"/>
          <p:nvPr/>
        </p:nvSpPr>
        <p:spPr>
          <a:xfrm>
            <a:off x="4479646" y="3703862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Dev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3571646" y="4856921"/>
            <a:ext cx="2171700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 txBox="1"/>
          <p:nvPr/>
        </p:nvSpPr>
        <p:spPr>
          <a:xfrm>
            <a:off x="4313225" y="5018769"/>
            <a:ext cx="7955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모델 개발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3625596" y="5247369"/>
            <a:ext cx="2167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도면 분석 알고리즘 및 인식 엔진 구현</a:t>
            </a:r>
            <a:endParaRPr lang="en-US" sz="1000" b="1" dirty="0"/>
          </a:p>
        </p:txBody>
      </p:sp>
      <p:sp>
        <p:nvSpPr>
          <p:cNvPr id="27" name="Shape 22"/>
          <p:cNvSpPr/>
          <p:nvPr/>
        </p:nvSpPr>
        <p:spPr>
          <a:xfrm>
            <a:off x="6210605" y="2217962"/>
            <a:ext cx="2648102" cy="3486607"/>
          </a:xfrm>
          <a:prstGeom prst="roundRect">
            <a:avLst>
              <a:gd name="adj" fmla="val 14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7153351" y="2456621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 l="-607" r="-607"/>
          <a:stretch/>
        </p:blipFill>
        <p:spPr>
          <a:xfrm>
            <a:off x="7353605" y="2694365"/>
            <a:ext cx="362102" cy="286207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069226" y="3360962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최진욱 선임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7280453" y="3675516"/>
            <a:ext cx="514807" cy="228600"/>
          </a:xfrm>
          <a:prstGeom prst="roundRect">
            <a:avLst>
              <a:gd name="adj" fmla="val 66667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6"/>
          <p:cNvSpPr/>
          <p:nvPr/>
        </p:nvSpPr>
        <p:spPr>
          <a:xfrm>
            <a:off x="7356348" y="3703862"/>
            <a:ext cx="362102" cy="161849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7"/>
          <p:cNvSpPr txBox="1"/>
          <p:nvPr/>
        </p:nvSpPr>
        <p:spPr>
          <a:xfrm>
            <a:off x="7356348" y="3703862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Dev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6448349" y="4856921"/>
            <a:ext cx="2171700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9"/>
          <p:cNvSpPr txBox="1"/>
          <p:nvPr/>
        </p:nvSpPr>
        <p:spPr>
          <a:xfrm>
            <a:off x="7033565" y="5018769"/>
            <a:ext cx="1110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UI/UX &amp; System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6459322" y="5247369"/>
            <a:ext cx="2253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시스템 아키텍처 및 인터페이스 개발</a:t>
            </a:r>
            <a:endParaRPr lang="en-US" sz="1000" b="1" dirty="0"/>
          </a:p>
        </p:txBody>
      </p:sp>
      <p:sp>
        <p:nvSpPr>
          <p:cNvPr id="37" name="Shape 31"/>
          <p:cNvSpPr/>
          <p:nvPr/>
        </p:nvSpPr>
        <p:spPr>
          <a:xfrm>
            <a:off x="9087307" y="2217962"/>
            <a:ext cx="2648102" cy="3486607"/>
          </a:xfrm>
          <a:prstGeom prst="roundRect">
            <a:avLst>
              <a:gd name="adj" fmla="val 14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2"/>
          <p:cNvSpPr/>
          <p:nvPr/>
        </p:nvSpPr>
        <p:spPr>
          <a:xfrm>
            <a:off x="10030054" y="2456621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rcRect t="-530" b="-530"/>
          <a:stretch/>
        </p:blipFill>
        <p:spPr>
          <a:xfrm>
            <a:off x="10287000" y="2694365"/>
            <a:ext cx="247802" cy="286207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9945929" y="3360962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강재연 선임</a:t>
            </a:r>
            <a:endParaRPr lang="en-US" sz="1500" dirty="0"/>
          </a:p>
        </p:txBody>
      </p:sp>
      <p:sp>
        <p:nvSpPr>
          <p:cNvPr id="41" name="Shape 34"/>
          <p:cNvSpPr/>
          <p:nvPr/>
        </p:nvSpPr>
        <p:spPr>
          <a:xfrm>
            <a:off x="10156241" y="3675516"/>
            <a:ext cx="514807" cy="228600"/>
          </a:xfrm>
          <a:prstGeom prst="roundRect">
            <a:avLst>
              <a:gd name="adj" fmla="val 66667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5"/>
          <p:cNvSpPr/>
          <p:nvPr/>
        </p:nvSpPr>
        <p:spPr>
          <a:xfrm>
            <a:off x="10233050" y="3703862"/>
            <a:ext cx="362102" cy="161849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6"/>
          <p:cNvSpPr txBox="1"/>
          <p:nvPr/>
        </p:nvSpPr>
        <p:spPr>
          <a:xfrm>
            <a:off x="10233050" y="3703862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Dev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9325051" y="4856921"/>
            <a:ext cx="2171700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8"/>
          <p:cNvSpPr txBox="1"/>
          <p:nvPr/>
        </p:nvSpPr>
        <p:spPr>
          <a:xfrm>
            <a:off x="9910267" y="5018769"/>
            <a:ext cx="1110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UI/UX &amp; System</a:t>
            </a:r>
            <a:endParaRPr lang="en-US" sz="1000" dirty="0"/>
          </a:p>
        </p:txBody>
      </p:sp>
      <p:sp>
        <p:nvSpPr>
          <p:cNvPr id="46" name="Text 39"/>
          <p:cNvSpPr txBox="1"/>
          <p:nvPr/>
        </p:nvSpPr>
        <p:spPr>
          <a:xfrm>
            <a:off x="9336024" y="5247369"/>
            <a:ext cx="2253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시스템 아키텍처 및 인터페이스 개발</a:t>
            </a:r>
            <a:endParaRPr lang="en-US" sz="1000" b="1" dirty="0"/>
          </a:p>
        </p:txBody>
      </p:sp>
      <p:sp>
        <p:nvSpPr>
          <p:cNvPr id="67" name="Shape 4">
            <a:extLst>
              <a:ext uri="{FF2B5EF4-FFF2-40B4-BE49-F238E27FC236}">
                <a16:creationId xmlns:a16="http://schemas.microsoft.com/office/drawing/2014/main" id="{05D664C1-BA50-2849-04FE-B46A0A4C2B92}"/>
              </a:ext>
            </a:extLst>
          </p:cNvPr>
          <p:cNvSpPr/>
          <p:nvPr/>
        </p:nvSpPr>
        <p:spPr>
          <a:xfrm>
            <a:off x="1305763" y="1143000"/>
            <a:ext cx="10429646" cy="3840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5">
            <a:extLst>
              <a:ext uri="{FF2B5EF4-FFF2-40B4-BE49-F238E27FC236}">
                <a16:creationId xmlns:a16="http://schemas.microsoft.com/office/drawing/2014/main" id="{544AEE7E-3A4D-2D45-0A55-425E2D7AA192}"/>
              </a:ext>
            </a:extLst>
          </p:cNvPr>
          <p:cNvSpPr txBox="1"/>
          <p:nvPr/>
        </p:nvSpPr>
        <p:spPr>
          <a:xfrm>
            <a:off x="457200" y="466344"/>
            <a:ext cx="11338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66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4500" dirty="0"/>
          </a:p>
        </p:txBody>
      </p:sp>
      <p:sp>
        <p:nvSpPr>
          <p:cNvPr id="69" name="Text 6">
            <a:extLst>
              <a:ext uri="{FF2B5EF4-FFF2-40B4-BE49-F238E27FC236}">
                <a16:creationId xmlns:a16="http://schemas.microsoft.com/office/drawing/2014/main" id="{F0742C3D-8C44-0C6D-6068-DCA4746FABC2}"/>
              </a:ext>
            </a:extLst>
          </p:cNvPr>
          <p:cNvSpPr txBox="1"/>
          <p:nvPr/>
        </p:nvSpPr>
        <p:spPr>
          <a:xfrm>
            <a:off x="1305763" y="381305"/>
            <a:ext cx="4953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8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팀은</a:t>
            </a:r>
            <a:r>
              <a:rPr lang="en-US" altLang="ko-KR" sz="2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8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</a:t>
            </a:r>
            <a:r>
              <a:rPr lang="en-US" altLang="ko-KR" sz="2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8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협업했는가</a:t>
            </a:r>
            <a:r>
              <a:rPr lang="en-US" altLang="ko-KR" sz="2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?</a:t>
            </a:r>
            <a:endParaRPr lang="en-US" altLang="ko-KR" sz="2800" dirty="0"/>
          </a:p>
        </p:txBody>
      </p:sp>
      <p:sp>
        <p:nvSpPr>
          <p:cNvPr id="70" name="Text 7">
            <a:extLst>
              <a:ext uri="{FF2B5EF4-FFF2-40B4-BE49-F238E27FC236}">
                <a16:creationId xmlns:a16="http://schemas.microsoft.com/office/drawing/2014/main" id="{131B8726-9DA5-DDFE-8EEC-05D9FAC3A744}"/>
              </a:ext>
            </a:extLst>
          </p:cNvPr>
          <p:cNvSpPr txBox="1"/>
          <p:nvPr/>
        </p:nvSpPr>
        <p:spPr>
          <a:xfrm>
            <a:off x="1305763" y="838505"/>
            <a:ext cx="20153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COLLABORATION</a:t>
            </a:r>
            <a:endParaRPr lang="en-US" altLang="ko-KR" sz="1000" dirty="0"/>
          </a:p>
        </p:txBody>
      </p:sp>
      <p:pic>
        <p:nvPicPr>
          <p:cNvPr id="71" name="Image 0" descr="preencoded.png">
            <a:extLst>
              <a:ext uri="{FF2B5EF4-FFF2-40B4-BE49-F238E27FC236}">
                <a16:creationId xmlns:a16="http://schemas.microsoft.com/office/drawing/2014/main" id="{3DDC636E-2C61-7485-EFB2-783B81EE2D2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42" b="141"/>
          <a:stretch/>
        </p:blipFill>
        <p:spPr>
          <a:xfrm>
            <a:off x="10652760" y="304495"/>
            <a:ext cx="1238098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11177626" y="580644"/>
            <a:ext cx="9052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3610051" cy="2104949"/>
          </a:xfrm>
          <a:prstGeom prst="roundRect">
            <a:avLst>
              <a:gd name="adj" fmla="val 2359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657454" y="1447125"/>
            <a:ext cx="9052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66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292194" y="1371600"/>
            <a:ext cx="3610051" cy="2104949"/>
          </a:xfrm>
          <a:prstGeom prst="roundRect">
            <a:avLst>
              <a:gd name="adj" fmla="val 2359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4492447" y="1438660"/>
            <a:ext cx="9052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66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8128102" y="1371600"/>
            <a:ext cx="3610051" cy="2104949"/>
          </a:xfrm>
          <a:prstGeom prst="roundRect">
            <a:avLst>
              <a:gd name="adj" fmla="val 2359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8328355" y="1438660"/>
            <a:ext cx="9052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66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457200" y="3781044"/>
            <a:ext cx="6400800" cy="2695651"/>
          </a:xfrm>
          <a:prstGeom prst="roundRect">
            <a:avLst>
              <a:gd name="adj" fmla="val 191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694944" y="4019702"/>
            <a:ext cx="281543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"수용인원"이 아닌 "혼잡도"인가?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4944" y="4476902"/>
            <a:ext cx="1876349" cy="1133856"/>
          </a:xfrm>
          <a:prstGeom prst="roundRect">
            <a:avLst>
              <a:gd name="adj" fmla="val 8132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12418" y="4629607"/>
            <a:ext cx="237744" cy="190195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244498" y="4919472"/>
            <a:ext cx="881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배치의 중요성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247242" y="5138928"/>
            <a:ext cx="857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인원이라도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57961" y="5290718"/>
            <a:ext cx="1239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배치에 따라 위험도 다름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720340" y="4476902"/>
            <a:ext cx="1876349" cy="1133856"/>
          </a:xfrm>
          <a:prstGeom prst="roundRect">
            <a:avLst>
              <a:gd name="adj" fmla="val 8132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3570732" y="4629607"/>
            <a:ext cx="171907" cy="190195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3331159" y="4919472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비상 대응력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3272638" y="5138928"/>
            <a:ext cx="857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비상구 접근성과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3187598" y="5290718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대피 동선 고려 필요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744822" y="4476902"/>
            <a:ext cx="1876349" cy="1133856"/>
          </a:xfrm>
          <a:prstGeom prst="roundRect">
            <a:avLst>
              <a:gd name="adj" fmla="val 8132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586070" y="4629607"/>
            <a:ext cx="190195" cy="19019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5294376" y="4919472"/>
            <a:ext cx="881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실질적 쾌적도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5281574" y="5138928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입장이 아닌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5212994" y="5290718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관람 환경의 질 반영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7160666" y="3781044"/>
            <a:ext cx="4581144" cy="2695651"/>
          </a:xfrm>
          <a:prstGeom prst="roundRect">
            <a:avLst>
              <a:gd name="adj" fmla="val 1918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1"/>
          <p:cNvSpPr txBox="1"/>
          <p:nvPr/>
        </p:nvSpPr>
        <p:spPr>
          <a:xfrm>
            <a:off x="9875520" y="6543446"/>
            <a:ext cx="1953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INNOVATION &amp; PHILOSOPHY</a:t>
            </a:r>
            <a:endParaRPr lang="en-US" sz="900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094890" y="2572207"/>
            <a:ext cx="171907" cy="171907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694944" y="2152498"/>
            <a:ext cx="11768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기준 전환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694944" y="2562149"/>
            <a:ext cx="881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수용인원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2892247" y="2562149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6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혼잡도 기반 판단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694944" y="2876702"/>
            <a:ext cx="14100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인원 수 산정을 넘어,</a:t>
            </a:r>
            <a:endParaRPr lang="en-US" sz="900" dirty="0"/>
          </a:p>
        </p:txBody>
      </p:sp>
      <p:sp>
        <p:nvSpPr>
          <p:cNvPr id="43" name="Text 36"/>
          <p:cNvSpPr txBox="1"/>
          <p:nvPr/>
        </p:nvSpPr>
        <p:spPr>
          <a:xfrm>
            <a:off x="694944" y="3062326"/>
            <a:ext cx="2248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위험도를 나타내는 혼잡도 중심으로 전환</a:t>
            </a:r>
            <a:endParaRPr lang="en-US" sz="900" dirty="0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67958" y="2572207"/>
            <a:ext cx="171907" cy="171907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4530852" y="2152498"/>
            <a:ext cx="11768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방식 혁신</a:t>
            </a:r>
            <a:endParaRPr lang="en-US" sz="1300" dirty="0"/>
          </a:p>
        </p:txBody>
      </p:sp>
      <p:sp>
        <p:nvSpPr>
          <p:cNvPr id="47" name="Text 38"/>
          <p:cNvSpPr txBox="1"/>
          <p:nvPr/>
        </p:nvSpPr>
        <p:spPr>
          <a:xfrm>
            <a:off x="4530852" y="2562149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정적 기준 적용</a:t>
            </a:r>
            <a:endParaRPr lang="en-US" sz="1000" dirty="0"/>
          </a:p>
        </p:txBody>
      </p:sp>
      <p:sp>
        <p:nvSpPr>
          <p:cNvPr id="48" name="Text 39"/>
          <p:cNvSpPr txBox="1"/>
          <p:nvPr/>
        </p:nvSpPr>
        <p:spPr>
          <a:xfrm>
            <a:off x="6965899" y="2562149"/>
            <a:ext cx="7955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6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도면 분석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4530852" y="2876702"/>
            <a:ext cx="12673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고정된 엑셀 수식이 아닌,</a:t>
            </a:r>
            <a:endParaRPr lang="en-US" sz="900" dirty="0"/>
          </a:p>
        </p:txBody>
      </p:sp>
      <p:sp>
        <p:nvSpPr>
          <p:cNvPr id="50" name="Text 41"/>
          <p:cNvSpPr txBox="1"/>
          <p:nvPr/>
        </p:nvSpPr>
        <p:spPr>
          <a:xfrm>
            <a:off x="4530852" y="3062326"/>
            <a:ext cx="1962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공간의 형태와 배치를 읽는 AI 시각 분석</a:t>
            </a:r>
            <a:endParaRPr lang="en-US" sz="900" dirty="0"/>
          </a:p>
        </p:txBody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784080" y="2572207"/>
            <a:ext cx="171907" cy="171907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8365846" y="2152498"/>
            <a:ext cx="11292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진화</a:t>
            </a:r>
            <a:endParaRPr lang="en-US" sz="1300" dirty="0"/>
          </a:p>
        </p:txBody>
      </p:sp>
      <p:sp>
        <p:nvSpPr>
          <p:cNvPr id="54" name="Text 43"/>
          <p:cNvSpPr txBox="1"/>
          <p:nvPr/>
        </p:nvSpPr>
        <p:spPr>
          <a:xfrm>
            <a:off x="8365846" y="2562149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 의존</a:t>
            </a:r>
            <a:endParaRPr lang="en-US" sz="1000" dirty="0"/>
          </a:p>
        </p:txBody>
      </p:sp>
      <p:sp>
        <p:nvSpPr>
          <p:cNvPr id="55" name="Text 44"/>
          <p:cNvSpPr txBox="1"/>
          <p:nvPr/>
        </p:nvSpPr>
        <p:spPr>
          <a:xfrm>
            <a:off x="10845698" y="2562149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6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</a:t>
            </a:r>
            <a:endParaRPr lang="en-US" sz="1000" dirty="0"/>
          </a:p>
        </p:txBody>
      </p:sp>
      <p:sp>
        <p:nvSpPr>
          <p:cNvPr id="56" name="Text 45"/>
          <p:cNvSpPr txBox="1"/>
          <p:nvPr/>
        </p:nvSpPr>
        <p:spPr>
          <a:xfrm>
            <a:off x="8365846" y="2876702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담당자의 감이 아닌,</a:t>
            </a:r>
            <a:endParaRPr lang="en-US" sz="900" dirty="0"/>
          </a:p>
        </p:txBody>
      </p:sp>
      <p:sp>
        <p:nvSpPr>
          <p:cNvPr id="57" name="Text 46"/>
          <p:cNvSpPr txBox="1"/>
          <p:nvPr/>
        </p:nvSpPr>
        <p:spPr>
          <a:xfrm>
            <a:off x="8365846" y="3062326"/>
            <a:ext cx="2039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학습된 데이터와 기준에 의한 객관적 판단</a:t>
            </a:r>
            <a:endParaRPr lang="en-US" sz="900" dirty="0"/>
          </a:p>
        </p:txBody>
      </p:sp>
      <p:pic>
        <p:nvPicPr>
          <p:cNvPr id="58" name="Image 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389266" y="5907938"/>
            <a:ext cx="133502" cy="133502"/>
          </a:xfrm>
          <a:prstGeom prst="rect">
            <a:avLst/>
          </a:prstGeom>
        </p:spPr>
      </p:pic>
      <p:sp>
        <p:nvSpPr>
          <p:cNvPr id="59" name="Text 47"/>
          <p:cNvSpPr txBox="1"/>
          <p:nvPr/>
        </p:nvSpPr>
        <p:spPr>
          <a:xfrm>
            <a:off x="7389266" y="4188866"/>
            <a:ext cx="9098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6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철학</a:t>
            </a:r>
            <a:endParaRPr lang="en-US" sz="1000" dirty="0"/>
          </a:p>
        </p:txBody>
      </p:sp>
      <p:sp>
        <p:nvSpPr>
          <p:cNvPr id="60" name="Text 48"/>
          <p:cNvSpPr txBox="1"/>
          <p:nvPr/>
        </p:nvSpPr>
        <p:spPr>
          <a:xfrm>
            <a:off x="7389266" y="5041087"/>
            <a:ext cx="4181551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"AI를 단순 계산기가 아닌, 안전 판단 도구로 활용합니다."</a:t>
            </a:r>
            <a:endParaRPr lang="en-US" sz="1500" dirty="0"/>
          </a:p>
        </p:txBody>
      </p:sp>
      <p:sp>
        <p:nvSpPr>
          <p:cNvPr id="61" name="Text 49"/>
          <p:cNvSpPr txBox="1"/>
          <p:nvPr/>
        </p:nvSpPr>
        <p:spPr>
          <a:xfrm>
            <a:off x="7598664" y="5879592"/>
            <a:ext cx="20912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사람의 의사결정을 돕는 보조 시스템</a:t>
            </a:r>
            <a:endParaRPr lang="en-US" sz="1000" dirty="0"/>
          </a:p>
        </p:txBody>
      </p:sp>
      <p:pic>
        <p:nvPicPr>
          <p:cNvPr id="62" name="Image 10" descr="preencoded.png"/>
          <p:cNvPicPr>
            <a:picLocks noChangeAspect="1"/>
          </p:cNvPicPr>
          <p:nvPr/>
        </p:nvPicPr>
        <p:blipFill>
          <a:blip r:embed="rId8">
            <a:alphaModFix amt="50000"/>
          </a:blip>
          <a:srcRect l="-743" r="-743"/>
          <a:stretch/>
        </p:blipFill>
        <p:spPr>
          <a:xfrm>
            <a:off x="7389266" y="4531766"/>
            <a:ext cx="304495" cy="342900"/>
          </a:xfrm>
          <a:prstGeom prst="rect">
            <a:avLst/>
          </a:prstGeom>
        </p:spPr>
      </p:pic>
      <p:sp>
        <p:nvSpPr>
          <p:cNvPr id="65" name="Shape 4">
            <a:extLst>
              <a:ext uri="{FF2B5EF4-FFF2-40B4-BE49-F238E27FC236}">
                <a16:creationId xmlns:a16="http://schemas.microsoft.com/office/drawing/2014/main" id="{85D7474E-1193-32A5-81A7-30F46039F966}"/>
              </a:ext>
            </a:extLst>
          </p:cNvPr>
          <p:cNvSpPr/>
          <p:nvPr/>
        </p:nvSpPr>
        <p:spPr>
          <a:xfrm>
            <a:off x="1305763" y="1143000"/>
            <a:ext cx="10429646" cy="3840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5">
            <a:extLst>
              <a:ext uri="{FF2B5EF4-FFF2-40B4-BE49-F238E27FC236}">
                <a16:creationId xmlns:a16="http://schemas.microsoft.com/office/drawing/2014/main" id="{A943C022-6BAE-EBDF-0BDA-3AEA0FC06170}"/>
              </a:ext>
            </a:extLst>
          </p:cNvPr>
          <p:cNvSpPr txBox="1"/>
          <p:nvPr/>
        </p:nvSpPr>
        <p:spPr>
          <a:xfrm>
            <a:off x="457200" y="466344"/>
            <a:ext cx="11338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66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4500" dirty="0"/>
          </a:p>
        </p:txBody>
      </p:sp>
      <p:sp>
        <p:nvSpPr>
          <p:cNvPr id="67" name="Text 6">
            <a:extLst>
              <a:ext uri="{FF2B5EF4-FFF2-40B4-BE49-F238E27FC236}">
                <a16:creationId xmlns:a16="http://schemas.microsoft.com/office/drawing/2014/main" id="{473EDE28-34F7-C48D-5E7F-EAFFD2DF22E2}"/>
              </a:ext>
            </a:extLst>
          </p:cNvPr>
          <p:cNvSpPr txBox="1"/>
          <p:nvPr/>
        </p:nvSpPr>
        <p:spPr>
          <a:xfrm>
            <a:off x="1305763" y="381305"/>
            <a:ext cx="4953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8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우리가</a:t>
            </a:r>
            <a:r>
              <a:rPr lang="en-US" altLang="ko-KR" sz="2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8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시도한</a:t>
            </a:r>
            <a:r>
              <a:rPr lang="en-US" altLang="ko-KR" sz="2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8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점의</a:t>
            </a:r>
            <a:r>
              <a:rPr lang="en-US" altLang="ko-KR" sz="2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8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차별성</a:t>
            </a:r>
            <a:endParaRPr lang="en-US" altLang="ko-KR" sz="2800" dirty="0"/>
          </a:p>
        </p:txBody>
      </p:sp>
      <p:sp>
        <p:nvSpPr>
          <p:cNvPr id="68" name="Text 7">
            <a:extLst>
              <a:ext uri="{FF2B5EF4-FFF2-40B4-BE49-F238E27FC236}">
                <a16:creationId xmlns:a16="http://schemas.microsoft.com/office/drawing/2014/main" id="{9304C355-67AB-8AC4-B7BF-2FA40A338265}"/>
              </a:ext>
            </a:extLst>
          </p:cNvPr>
          <p:cNvSpPr txBox="1"/>
          <p:nvPr/>
        </p:nvSpPr>
        <p:spPr>
          <a:xfrm>
            <a:off x="1305763" y="838505"/>
            <a:ext cx="20153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INNOVATION</a:t>
            </a:r>
            <a:endParaRPr lang="en-US" altLang="ko-KR" sz="1000" dirty="0"/>
          </a:p>
        </p:txBody>
      </p:sp>
      <p:pic>
        <p:nvPicPr>
          <p:cNvPr id="69" name="Image 0" descr="preencoded.png">
            <a:extLst>
              <a:ext uri="{FF2B5EF4-FFF2-40B4-BE49-F238E27FC236}">
                <a16:creationId xmlns:a16="http://schemas.microsoft.com/office/drawing/2014/main" id="{ACCDB15B-3060-0238-7BDA-A639F141A04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42" b="141"/>
          <a:stretch/>
        </p:blipFill>
        <p:spPr>
          <a:xfrm>
            <a:off x="10652760" y="304495"/>
            <a:ext cx="1238098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457200" y="1257300"/>
            <a:ext cx="3048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정량적 성과 Quantitative Results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1752905"/>
            <a:ext cx="5486400" cy="4376962"/>
          </a:xfrm>
          <a:prstGeom prst="roundRect">
            <a:avLst>
              <a:gd name="adj" fmla="val 193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1752905"/>
            <a:ext cx="5467198" cy="57607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881" r="-881"/>
          <a:stretch/>
        </p:blipFill>
        <p:spPr>
          <a:xfrm>
            <a:off x="938174" y="1990649"/>
            <a:ext cx="237744" cy="26700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71754" y="2648102"/>
            <a:ext cx="11768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 소요 시간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71754" y="2943454"/>
            <a:ext cx="2033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60분 소요 작업의 획기적 단축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395520" y="1848002"/>
            <a:ext cx="1454947" cy="219456"/>
          </a:xfrm>
          <a:prstGeom prst="roundRect">
            <a:avLst>
              <a:gd name="adj" fmla="val 61538"/>
            </a:avLst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4471416" y="1886407"/>
            <a:ext cx="11722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DRAMATIC CHANGE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71754" y="3286354"/>
            <a:ext cx="4858207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771754" y="3343046"/>
            <a:ext cx="13533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95%</a:t>
            </a:r>
            <a:endParaRPr lang="en-US" sz="3600" dirty="0"/>
          </a:p>
        </p:txBody>
      </p:sp>
      <p:sp>
        <p:nvSpPr>
          <p:cNvPr id="20" name="Text 17"/>
          <p:cNvSpPr txBox="1"/>
          <p:nvPr/>
        </p:nvSpPr>
        <p:spPr>
          <a:xfrm>
            <a:off x="1893722" y="3657600"/>
            <a:ext cx="4956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66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단축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771754" y="4009644"/>
            <a:ext cx="4858207" cy="342900"/>
          </a:xfrm>
          <a:prstGeom prst="roundRect">
            <a:avLst>
              <a:gd name="adj" fmla="val 59259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847649" y="4086454"/>
            <a:ext cx="3767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60분</a:t>
            </a:r>
            <a:endParaRPr lang="en-US" sz="10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1271016" y="4123944"/>
            <a:ext cx="105156" cy="11430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452067" y="4086454"/>
            <a:ext cx="4626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 10초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6248095" y="1257300"/>
            <a:ext cx="29059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정성적 성과 Qualitative Results</a:t>
            </a:r>
            <a:endParaRPr lang="en-US" sz="1500" dirty="0"/>
          </a:p>
        </p:txBody>
      </p:sp>
      <p:sp>
        <p:nvSpPr>
          <p:cNvPr id="36" name="Shape 31"/>
          <p:cNvSpPr/>
          <p:nvPr/>
        </p:nvSpPr>
        <p:spPr>
          <a:xfrm>
            <a:off x="6248095" y="1752905"/>
            <a:ext cx="5486400" cy="4376962"/>
          </a:xfrm>
          <a:prstGeom prst="roundRect">
            <a:avLst>
              <a:gd name="adj" fmla="val 193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2"/>
          <p:cNvSpPr/>
          <p:nvPr/>
        </p:nvSpPr>
        <p:spPr>
          <a:xfrm>
            <a:off x="6248095" y="1752905"/>
            <a:ext cx="5467198" cy="57607"/>
          </a:xfrm>
          <a:prstGeom prst="rect">
            <a:avLst/>
          </a:prstGeom>
          <a:solidFill>
            <a:srgbClr val="4B556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3"/>
          <p:cNvSpPr/>
          <p:nvPr/>
        </p:nvSpPr>
        <p:spPr>
          <a:xfrm>
            <a:off x="6562649" y="2180844"/>
            <a:ext cx="571500" cy="571500"/>
          </a:xfrm>
          <a:prstGeom prst="ellipse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15354" y="2333549"/>
            <a:ext cx="267005" cy="267005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7324344" y="2409444"/>
            <a:ext cx="20482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관리 수준 향상</a:t>
            </a:r>
            <a:endParaRPr lang="en-US" sz="1800" dirty="0"/>
          </a:p>
        </p:txBody>
      </p:sp>
      <p:sp>
        <p:nvSpPr>
          <p:cNvPr id="41" name="Shape 35"/>
          <p:cNvSpPr/>
          <p:nvPr/>
        </p:nvSpPr>
        <p:spPr>
          <a:xfrm>
            <a:off x="6562649" y="3209544"/>
            <a:ext cx="4858207" cy="800100"/>
          </a:xfrm>
          <a:prstGeom prst="roundRect">
            <a:avLst>
              <a:gd name="adj" fmla="val 16327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6715354" y="3400654"/>
            <a:ext cx="133502" cy="152705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6963156" y="3362249"/>
            <a:ext cx="20052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혼잡도 예측을 통한 사전 위험 감지</a:t>
            </a:r>
            <a:endParaRPr lang="en-US" sz="1000" dirty="0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6715354" y="3705149"/>
            <a:ext cx="133502" cy="152705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6963156" y="3666744"/>
            <a:ext cx="23765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사고 예방을 위한 객관적 가이드라인 확보</a:t>
            </a:r>
            <a:endParaRPr lang="en-US" sz="1000" dirty="0"/>
          </a:p>
        </p:txBody>
      </p:sp>
      <p:sp>
        <p:nvSpPr>
          <p:cNvPr id="63" name="Text 7">
            <a:extLst>
              <a:ext uri="{FF2B5EF4-FFF2-40B4-BE49-F238E27FC236}">
                <a16:creationId xmlns:a16="http://schemas.microsoft.com/office/drawing/2014/main" id="{AB501C3C-5C8A-1962-275F-2DFCFBD162AE}"/>
              </a:ext>
            </a:extLst>
          </p:cNvPr>
          <p:cNvSpPr txBox="1"/>
          <p:nvPr/>
        </p:nvSpPr>
        <p:spPr>
          <a:xfrm>
            <a:off x="11177626" y="580644"/>
            <a:ext cx="9052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3600" dirty="0"/>
          </a:p>
        </p:txBody>
      </p:sp>
      <p:sp>
        <p:nvSpPr>
          <p:cNvPr id="64" name="Shape 4">
            <a:extLst>
              <a:ext uri="{FF2B5EF4-FFF2-40B4-BE49-F238E27FC236}">
                <a16:creationId xmlns:a16="http://schemas.microsoft.com/office/drawing/2014/main" id="{DA8AA19A-D614-415D-2B24-B4C9A353B92C}"/>
              </a:ext>
            </a:extLst>
          </p:cNvPr>
          <p:cNvSpPr/>
          <p:nvPr/>
        </p:nvSpPr>
        <p:spPr>
          <a:xfrm>
            <a:off x="1305763" y="1143000"/>
            <a:ext cx="10429646" cy="3840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5">
            <a:extLst>
              <a:ext uri="{FF2B5EF4-FFF2-40B4-BE49-F238E27FC236}">
                <a16:creationId xmlns:a16="http://schemas.microsoft.com/office/drawing/2014/main" id="{978CB74C-3230-94FE-B44A-C51A0B5D7405}"/>
              </a:ext>
            </a:extLst>
          </p:cNvPr>
          <p:cNvSpPr txBox="1"/>
          <p:nvPr/>
        </p:nvSpPr>
        <p:spPr>
          <a:xfrm>
            <a:off x="457200" y="466344"/>
            <a:ext cx="11338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66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4500" dirty="0"/>
          </a:p>
        </p:txBody>
      </p:sp>
      <p:sp>
        <p:nvSpPr>
          <p:cNvPr id="66" name="Text 6">
            <a:extLst>
              <a:ext uri="{FF2B5EF4-FFF2-40B4-BE49-F238E27FC236}">
                <a16:creationId xmlns:a16="http://schemas.microsoft.com/office/drawing/2014/main" id="{61CB0BCC-F6BE-61F8-0259-3027A8FC5DE0}"/>
              </a:ext>
            </a:extLst>
          </p:cNvPr>
          <p:cNvSpPr txBox="1"/>
          <p:nvPr/>
        </p:nvSpPr>
        <p:spPr>
          <a:xfrm>
            <a:off x="1305763" y="381305"/>
            <a:ext cx="4953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8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altLang="ko-KR" sz="2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8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</a:t>
            </a:r>
            <a:r>
              <a:rPr lang="en-US" altLang="ko-KR" sz="2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</a:t>
            </a:r>
            <a:r>
              <a:rPr lang="en-US" altLang="ko-KR" sz="28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마무리</a:t>
            </a:r>
            <a:endParaRPr lang="en-US" altLang="ko-KR" sz="2800" dirty="0"/>
          </a:p>
        </p:txBody>
      </p:sp>
      <p:sp>
        <p:nvSpPr>
          <p:cNvPr id="67" name="Text 7">
            <a:extLst>
              <a:ext uri="{FF2B5EF4-FFF2-40B4-BE49-F238E27FC236}">
                <a16:creationId xmlns:a16="http://schemas.microsoft.com/office/drawing/2014/main" id="{2B4C85F4-2107-9F73-3447-9C92E6D52860}"/>
              </a:ext>
            </a:extLst>
          </p:cNvPr>
          <p:cNvSpPr txBox="1"/>
          <p:nvPr/>
        </p:nvSpPr>
        <p:spPr>
          <a:xfrm>
            <a:off x="1305763" y="838505"/>
            <a:ext cx="20153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IMPACT &amp; CLOSING</a:t>
            </a:r>
            <a:endParaRPr lang="en-US" altLang="ko-KR" sz="1000" dirty="0"/>
          </a:p>
        </p:txBody>
      </p:sp>
      <p:pic>
        <p:nvPicPr>
          <p:cNvPr id="68" name="Image 0" descr="preencoded.png">
            <a:extLst>
              <a:ext uri="{FF2B5EF4-FFF2-40B4-BE49-F238E27FC236}">
                <a16:creationId xmlns:a16="http://schemas.microsoft.com/office/drawing/2014/main" id="{D04A487C-B54C-690B-55FF-CE538BB8D75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42" b="141"/>
          <a:stretch/>
        </p:blipFill>
        <p:spPr>
          <a:xfrm>
            <a:off x="10652760" y="304495"/>
            <a:ext cx="1238098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4419295"/>
            <a:ext cx="2438705" cy="2438705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t="-5968" b="-5968"/>
          <a:stretch/>
        </p:blipFill>
        <p:spPr>
          <a:xfrm>
            <a:off x="761695" y="761695"/>
            <a:ext cx="952805" cy="121889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15000"/>
          </a:blip>
          <a:srcRect t="-5968" b="-5968"/>
          <a:stretch/>
        </p:blipFill>
        <p:spPr>
          <a:xfrm>
            <a:off x="10477195" y="3353105"/>
            <a:ext cx="952805" cy="12188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76402"/>
            <a:ext cx="10533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633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VALUE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FF66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5"/>
          <p:cNvSpPr/>
          <p:nvPr/>
        </p:nvSpPr>
        <p:spPr>
          <a:xfrm>
            <a:off x="5639105" y="3195828"/>
            <a:ext cx="914400" cy="38405"/>
          </a:xfrm>
          <a:prstGeom prst="roundRect">
            <a:avLst>
              <a:gd name="adj" fmla="val 2380940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1218895" y="3690518"/>
            <a:ext cx="2952598" cy="1990649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rcRect t="-45" b="-45"/>
          <a:stretch/>
        </p:blipFill>
        <p:spPr>
          <a:xfrm>
            <a:off x="2563978" y="4081882"/>
            <a:ext cx="256946" cy="2286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623206" y="3690518"/>
            <a:ext cx="2952598" cy="1990649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50800">
            <a:solidFill>
              <a:srgbClr val="FF6633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5829300" y="3957523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5967374" y="4110228"/>
            <a:ext cx="256946" cy="22860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8026603" y="3690518"/>
            <a:ext cx="2952598" cy="1990649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385402" y="4081882"/>
            <a:ext cx="228600" cy="22860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2211934" y="4624121"/>
            <a:ext cx="10908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Safety First</a:t>
            </a:r>
            <a:endParaRPr lang="en-US" sz="1300" dirty="0"/>
          </a:p>
        </p:txBody>
      </p:sp>
      <p:sp>
        <p:nvSpPr>
          <p:cNvPr id="19" name="Text 11"/>
          <p:cNvSpPr txBox="1"/>
          <p:nvPr/>
        </p:nvSpPr>
        <p:spPr>
          <a:xfrm>
            <a:off x="2250338" y="4957877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안전이 최우선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2050085" y="5253228"/>
            <a:ext cx="1371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타협할 수 없는 절대적 가치</a:t>
            </a:r>
            <a:endParaRPr lang="en-US" sz="900" dirty="0"/>
          </a:p>
        </p:txBody>
      </p:sp>
      <p:sp>
        <p:nvSpPr>
          <p:cNvPr id="21" name="Text 13"/>
          <p:cNvSpPr txBox="1"/>
          <p:nvPr/>
        </p:nvSpPr>
        <p:spPr>
          <a:xfrm>
            <a:off x="5458054" y="4653382"/>
            <a:ext cx="14054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Human Centric</a:t>
            </a:r>
            <a:endParaRPr lang="en-US" sz="1300" dirty="0"/>
          </a:p>
        </p:txBody>
      </p:sp>
      <p:sp>
        <p:nvSpPr>
          <p:cNvPr id="22" name="Text 14"/>
          <p:cNvSpPr txBox="1"/>
          <p:nvPr/>
        </p:nvSpPr>
        <p:spPr>
          <a:xfrm>
            <a:off x="5372100" y="4986223"/>
            <a:ext cx="1562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도구, 판단은 사람</a:t>
            </a:r>
            <a:endParaRPr lang="en-US" sz="1200" dirty="0"/>
          </a:p>
        </p:txBody>
      </p:sp>
      <p:sp>
        <p:nvSpPr>
          <p:cNvPr id="23" name="Text 15"/>
          <p:cNvSpPr txBox="1"/>
          <p:nvPr/>
        </p:nvSpPr>
        <p:spPr>
          <a:xfrm>
            <a:off x="5469026" y="5281574"/>
            <a:ext cx="1343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 있는 의사결정의 주체</a:t>
            </a:r>
            <a:endParaRPr lang="en-US" sz="900" dirty="0"/>
          </a:p>
        </p:txBody>
      </p:sp>
      <p:sp>
        <p:nvSpPr>
          <p:cNvPr id="24" name="Text 16"/>
          <p:cNvSpPr txBox="1"/>
          <p:nvPr/>
        </p:nvSpPr>
        <p:spPr>
          <a:xfrm>
            <a:off x="8793785" y="4624121"/>
            <a:ext cx="15480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Continuous Imp.</a:t>
            </a:r>
            <a:endParaRPr lang="en-US" sz="1300" dirty="0"/>
          </a:p>
        </p:txBody>
      </p:sp>
      <p:sp>
        <p:nvSpPr>
          <p:cNvPr id="25" name="Text 17"/>
          <p:cNvSpPr txBox="1"/>
          <p:nvPr/>
        </p:nvSpPr>
        <p:spPr>
          <a:xfrm>
            <a:off x="8825789" y="4957877"/>
            <a:ext cx="1467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지속적인 개선과 발전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8873338" y="5253228"/>
            <a:ext cx="1343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축적을 통한 고도화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3871570" y="1614830"/>
            <a:ext cx="46296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시스템은 인원을 늘리기 위한 도구가 아니라,</a:t>
            </a:r>
            <a:endParaRPr lang="en-US" sz="1800" dirty="0"/>
          </a:p>
        </p:txBody>
      </p:sp>
      <p:sp>
        <p:nvSpPr>
          <p:cNvPr id="28" name="Text 20"/>
          <p:cNvSpPr txBox="1"/>
          <p:nvPr/>
        </p:nvSpPr>
        <p:spPr>
          <a:xfrm>
            <a:off x="1889150" y="2119579"/>
            <a:ext cx="87636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사고를 줄이기 위한 기준을 만드는 AI입니다.</a:t>
            </a:r>
            <a:endParaRPr lang="en-US" sz="3600" dirty="0"/>
          </a:p>
        </p:txBody>
      </p:sp>
      <p:pic>
        <p:nvPicPr>
          <p:cNvPr id="29" name="Image 0" descr="preencoded.png">
            <a:extLst>
              <a:ext uri="{FF2B5EF4-FFF2-40B4-BE49-F238E27FC236}">
                <a16:creationId xmlns:a16="http://schemas.microsoft.com/office/drawing/2014/main" id="{7A88A62C-7F59-1A8B-E074-0985B5B5E16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42" b="141"/>
          <a:stretch/>
        </p:blipFill>
        <p:spPr>
          <a:xfrm>
            <a:off x="10652760" y="304495"/>
            <a:ext cx="1238098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5003597" y="1555904"/>
            <a:ext cx="23052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6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PRESENTATION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654857" y="1832053"/>
            <a:ext cx="522945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경청해 주셔서 감사합니다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078578" y="2460246"/>
            <a:ext cx="21817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행사장 수용인원 자동계산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38598" y="3114042"/>
            <a:ext cx="1714500" cy="1714500"/>
          </a:xfrm>
          <a:prstGeom prst="ellipse">
            <a:avLst/>
          </a:prstGeom>
          <a:solidFill>
            <a:srgbClr val="FF6633"/>
          </a:solidFill>
          <a:ln/>
          <a:effectLst>
            <a:outerShdw blurRad="381000" dist="190500" dir="5400000" algn="bl" rotWithShape="0">
              <a:srgbClr val="FF6633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5461711" y="3552954"/>
            <a:ext cx="17053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Q&amp;A</a:t>
            </a:r>
            <a:endParaRPr lang="en-US" sz="4500" dirty="0"/>
          </a:p>
        </p:txBody>
      </p:sp>
      <p:sp>
        <p:nvSpPr>
          <p:cNvPr id="9" name="Shape 7"/>
          <p:cNvSpPr/>
          <p:nvPr/>
        </p:nvSpPr>
        <p:spPr>
          <a:xfrm>
            <a:off x="5238598" y="3114042"/>
            <a:ext cx="1714500" cy="1714500"/>
          </a:xfrm>
          <a:prstGeom prst="roundRect">
            <a:avLst>
              <a:gd name="adj" fmla="val 53333"/>
            </a:avLst>
          </a:prstGeom>
          <a:noFill/>
          <a:ln w="508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4959706" y="5137609"/>
            <a:ext cx="23765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질문이 있으시면 자유롭게 말씀해 주세요.</a:t>
            </a:r>
            <a:endParaRPr lang="en-US" sz="1000" dirty="0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A61E3A97-8CA5-8246-6AF9-A7255206BB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2" b="141"/>
          <a:stretch/>
        </p:blipFill>
        <p:spPr>
          <a:xfrm>
            <a:off x="10652760" y="304495"/>
            <a:ext cx="1238098" cy="571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1743</Words>
  <Application>Microsoft Office PowerPoint</Application>
  <PresentationFormat>와이드스크린</PresentationFormat>
  <Paragraphs>397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ui-monospace</vt:lpstr>
      <vt:lpstr>Arial</vt:lpstr>
      <vt:lpstr>Noto Sans KR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pmp24</cp:lastModifiedBy>
  <cp:revision>39</cp:revision>
  <dcterms:created xsi:type="dcterms:W3CDTF">2026-01-06T01:04:25Z</dcterms:created>
  <dcterms:modified xsi:type="dcterms:W3CDTF">2026-01-06T03:55:07Z</dcterms:modified>
</cp:coreProperties>
</file>